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9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6D099"/>
    <a:srgbClr val="5943E2"/>
    <a:srgbClr val="644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8998EC6-578E-498E-BEAF-D8AFC0586412}" v="2091" dt="2026-01-03T22:10:40.294"/>
    <p1510:client id="{83417C03-8539-4D68-AF40-0395A48CC67C}" v="88" dt="2026-01-04T17:17:40.19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8D230F3-CF80-4859-8CE7-A43EE81993B5}" styleName="Style léger 1 - Accentuation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E8B1032C-EA38-4F05-BA0D-38AFFFC7BED3}" styleName="Style léger 3 - Accentuation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16D9F66E-5EB9-4882-86FB-DCBF35E3C3E4}" styleName="Style moyen 4 - Accentuation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1FECB4D8-DB02-4DC6-A0A2-4F2EBAE1DC90}" styleName="Style moyen 1 - Accentuation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8799B23B-EC83-4686-B30A-512413B5E67A}" styleName="Style léger 3 - Accentuation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D7AC3CCA-C797-4891-BE02-D94E43425B78}" styleName="Style moyen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2D5ABB26-0587-4C30-8999-92F81FD0307C}" styleName="Aucun style, aucune grill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Aucun style, grille du tableau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73A0DAA-6AF3-43AB-8588-CEC1D06C72B9}" styleName="Style moyen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FD0F851-EC5A-4D38-B0AD-8093EC10F338}" styleName="Style léger 1 - Accentuation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59" autoAdjust="0"/>
    <p:restoredTop sz="94660"/>
  </p:normalViewPr>
  <p:slideViewPr>
    <p:cSldViewPr snapToGrid="0">
      <p:cViewPr varScale="1">
        <p:scale>
          <a:sx n="61" d="100"/>
          <a:sy n="61" d="100"/>
        </p:scale>
        <p:origin x="84" y="3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17" Type="http://schemas.openxmlformats.org/officeDocument/2006/relationships/customXml" Target="../customXml/item3.xml"/><Relationship Id="rId2" Type="http://schemas.openxmlformats.org/officeDocument/2006/relationships/slide" Target="slides/slide1.xml"/><Relationship Id="rId16" Type="http://schemas.openxmlformats.org/officeDocument/2006/relationships/customXml" Target="../customXml/item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customXml" Target="../customXml/item1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5/10/relationships/revisionInfo" Target="revisionInfo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04/01/2026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104911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04/01/2026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417956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04/01/2026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669234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04/01/2026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476322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04/01/2026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118665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04/01/2026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958540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04/01/2026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402013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04/01/2026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064072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04/01/2026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109033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04/01/2026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727872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04/01/2026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021775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38941B0-F4D5-4460-BCAD-F7E2B41A8257}" type="datetimeFigureOut">
              <a:rPr lang="fr-FR" smtClean="0"/>
              <a:t>04/01/2026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71127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6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jpeg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840890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ableau 8">
            <a:extLst>
              <a:ext uri="{FF2B5EF4-FFF2-40B4-BE49-F238E27FC236}">
                <a16:creationId xmlns:a16="http://schemas.microsoft.com/office/drawing/2014/main" id="{12A1B0CF-DBD8-90E5-D07D-664D4C5920A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32120033"/>
              </p:ext>
            </p:extLst>
          </p:nvPr>
        </p:nvGraphicFramePr>
        <p:xfrm>
          <a:off x="-33130" y="0"/>
          <a:ext cx="12231144" cy="686867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2231144">
                  <a:extLst>
                    <a:ext uri="{9D8B030D-6E8A-4147-A177-3AD203B41FA5}">
                      <a16:colId xmlns:a16="http://schemas.microsoft.com/office/drawing/2014/main" val="134455847"/>
                    </a:ext>
                  </a:extLst>
                </a:gridCol>
              </a:tblGrid>
              <a:tr h="6868670"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84406124"/>
                  </a:ext>
                </a:extLst>
              </a:tr>
            </a:tbl>
          </a:graphicData>
        </a:graphic>
      </p:graphicFrame>
      <p:sp>
        <p:nvSpPr>
          <p:cNvPr id="11" name="Rectangle 19">
            <a:extLst>
              <a:ext uri="{FF2B5EF4-FFF2-40B4-BE49-F238E27FC236}">
                <a16:creationId xmlns:a16="http://schemas.microsoft.com/office/drawing/2014/main" id="{232AD11D-F2FF-7DBC-1E10-B5C123EAE5F8}"/>
              </a:ext>
            </a:extLst>
          </p:cNvPr>
          <p:cNvSpPr/>
          <p:nvPr/>
        </p:nvSpPr>
        <p:spPr>
          <a:xfrm>
            <a:off x="70395" y="17345"/>
            <a:ext cx="3725673" cy="6769883"/>
          </a:xfrm>
          <a:prstGeom prst="roundRect">
            <a:avLst/>
          </a:prstGeom>
          <a:solidFill>
            <a:schemeClr val="bg1"/>
          </a:solidFill>
          <a:ln w="12700">
            <a:solidFill>
              <a:srgbClr val="644CFF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fr-FR" dirty="0"/>
          </a:p>
        </p:txBody>
      </p:sp>
      <p:sp>
        <p:nvSpPr>
          <p:cNvPr id="13" name="ZoneTexte 22">
            <a:extLst>
              <a:ext uri="{FF2B5EF4-FFF2-40B4-BE49-F238E27FC236}">
                <a16:creationId xmlns:a16="http://schemas.microsoft.com/office/drawing/2014/main" id="{B8D474B2-ABCF-381B-25D3-035A49940B2E}"/>
              </a:ext>
            </a:extLst>
          </p:cNvPr>
          <p:cNvSpPr txBox="1"/>
          <p:nvPr/>
        </p:nvSpPr>
        <p:spPr>
          <a:xfrm>
            <a:off x="150441" y="627808"/>
            <a:ext cx="2743200" cy="365760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>
                <a:ea typeface="+mn-lt"/>
                <a:cs typeface="+mn-lt"/>
              </a:rPr>
              <a:t>🏢 Biens</a:t>
            </a:r>
            <a:endParaRPr lang="fr-FR" dirty="0"/>
          </a:p>
        </p:txBody>
      </p:sp>
      <p:sp>
        <p:nvSpPr>
          <p:cNvPr id="15" name="ZoneTexte 23">
            <a:extLst>
              <a:ext uri="{FF2B5EF4-FFF2-40B4-BE49-F238E27FC236}">
                <a16:creationId xmlns:a16="http://schemas.microsoft.com/office/drawing/2014/main" id="{9A1D791E-49EC-99D1-C52B-0A2288721D66}"/>
              </a:ext>
            </a:extLst>
          </p:cNvPr>
          <p:cNvSpPr txBox="1"/>
          <p:nvPr/>
        </p:nvSpPr>
        <p:spPr>
          <a:xfrm>
            <a:off x="150441" y="2076857"/>
            <a:ext cx="2743200" cy="365760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>
                <a:ea typeface="+mn-lt"/>
                <a:cs typeface="+mn-lt"/>
              </a:rPr>
              <a:t>👥 Personnes</a:t>
            </a:r>
            <a:endParaRPr lang="fr-FR" dirty="0"/>
          </a:p>
        </p:txBody>
      </p:sp>
      <p:sp>
        <p:nvSpPr>
          <p:cNvPr id="17" name="ZoneTexte 24">
            <a:extLst>
              <a:ext uri="{FF2B5EF4-FFF2-40B4-BE49-F238E27FC236}">
                <a16:creationId xmlns:a16="http://schemas.microsoft.com/office/drawing/2014/main" id="{8A94C183-AB80-6CE1-F8FC-6791ACC1171D}"/>
              </a:ext>
            </a:extLst>
          </p:cNvPr>
          <p:cNvSpPr txBox="1"/>
          <p:nvPr/>
        </p:nvSpPr>
        <p:spPr>
          <a:xfrm>
            <a:off x="150442" y="3888168"/>
            <a:ext cx="2743200" cy="365760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>
                <a:ea typeface="+mn-lt"/>
                <a:cs typeface="+mn-lt"/>
              </a:rPr>
              <a:t>📅 Événements</a:t>
            </a:r>
            <a:endParaRPr lang="fr-FR" dirty="0"/>
          </a:p>
        </p:txBody>
      </p:sp>
      <p:sp>
        <p:nvSpPr>
          <p:cNvPr id="19" name="ZoneTexte 25">
            <a:extLst>
              <a:ext uri="{FF2B5EF4-FFF2-40B4-BE49-F238E27FC236}">
                <a16:creationId xmlns:a16="http://schemas.microsoft.com/office/drawing/2014/main" id="{3BE56800-EF52-1A03-26A3-560F2A436086}"/>
              </a:ext>
            </a:extLst>
          </p:cNvPr>
          <p:cNvSpPr txBox="1"/>
          <p:nvPr/>
        </p:nvSpPr>
        <p:spPr>
          <a:xfrm>
            <a:off x="150442" y="5337218"/>
            <a:ext cx="2743200" cy="365760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>
                <a:ea typeface="+mn-lt"/>
                <a:cs typeface="+mn-lt"/>
              </a:rPr>
              <a:t>📂 Documents</a:t>
            </a:r>
            <a:endParaRPr lang="fr-FR" dirty="0"/>
          </a:p>
        </p:txBody>
      </p:sp>
      <p:sp>
        <p:nvSpPr>
          <p:cNvPr id="21" name="ZoneTexte 26">
            <a:extLst>
              <a:ext uri="{FF2B5EF4-FFF2-40B4-BE49-F238E27FC236}">
                <a16:creationId xmlns:a16="http://schemas.microsoft.com/office/drawing/2014/main" id="{7B5E4B7B-7035-9B71-32E7-C96B9C6FDCBF}"/>
              </a:ext>
            </a:extLst>
          </p:cNvPr>
          <p:cNvSpPr txBox="1"/>
          <p:nvPr/>
        </p:nvSpPr>
        <p:spPr>
          <a:xfrm>
            <a:off x="238789" y="6361544"/>
            <a:ext cx="2743200" cy="369332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>
                <a:ea typeface="+mn-lt"/>
                <a:cs typeface="+mn-lt"/>
              </a:rPr>
              <a:t>👤 Utilisateurs</a:t>
            </a:r>
          </a:p>
        </p:txBody>
      </p:sp>
      <p:sp>
        <p:nvSpPr>
          <p:cNvPr id="23" name="ZoneTexte 27">
            <a:extLst>
              <a:ext uri="{FF2B5EF4-FFF2-40B4-BE49-F238E27FC236}">
                <a16:creationId xmlns:a16="http://schemas.microsoft.com/office/drawing/2014/main" id="{FFF91A37-85EC-59FA-DAE7-69D0F88243F6}"/>
              </a:ext>
            </a:extLst>
          </p:cNvPr>
          <p:cNvSpPr txBox="1"/>
          <p:nvPr/>
        </p:nvSpPr>
        <p:spPr>
          <a:xfrm>
            <a:off x="587653" y="990069"/>
            <a:ext cx="2743200" cy="369332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>
                <a:ea typeface="+mn-lt"/>
                <a:cs typeface="+mn-lt"/>
              </a:rPr>
              <a:t>📋 Liste des biens</a:t>
            </a:r>
            <a:endParaRPr lang="fr-FR" dirty="0"/>
          </a:p>
        </p:txBody>
      </p:sp>
      <p:sp>
        <p:nvSpPr>
          <p:cNvPr id="25" name="ZoneTexte 29">
            <a:extLst>
              <a:ext uri="{FF2B5EF4-FFF2-40B4-BE49-F238E27FC236}">
                <a16:creationId xmlns:a16="http://schemas.microsoft.com/office/drawing/2014/main" id="{4D16733B-CBCC-4A02-3DF7-EB4568D4B993}"/>
              </a:ext>
            </a:extLst>
          </p:cNvPr>
          <p:cNvSpPr txBox="1"/>
          <p:nvPr/>
        </p:nvSpPr>
        <p:spPr>
          <a:xfrm>
            <a:off x="587652" y="1352330"/>
            <a:ext cx="2743200" cy="369332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>
                <a:ea typeface="+mn-lt"/>
                <a:cs typeface="+mn-lt"/>
              </a:rPr>
              <a:t>➕ Nouveau bien</a:t>
            </a:r>
            <a:endParaRPr lang="fr-FR" dirty="0"/>
          </a:p>
        </p:txBody>
      </p:sp>
      <p:sp>
        <p:nvSpPr>
          <p:cNvPr id="27" name="ZoneTexte 30">
            <a:extLst>
              <a:ext uri="{FF2B5EF4-FFF2-40B4-BE49-F238E27FC236}">
                <a16:creationId xmlns:a16="http://schemas.microsoft.com/office/drawing/2014/main" id="{63A3FD39-1905-C84B-B444-8483489E06EC}"/>
              </a:ext>
            </a:extLst>
          </p:cNvPr>
          <p:cNvSpPr txBox="1"/>
          <p:nvPr/>
        </p:nvSpPr>
        <p:spPr>
          <a:xfrm>
            <a:off x="587653" y="1714594"/>
            <a:ext cx="2743200" cy="369332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>
                <a:ea typeface="+mn-lt"/>
                <a:cs typeface="+mn-lt"/>
              </a:rPr>
              <a:t>🕒 Historique des statuts</a:t>
            </a:r>
            <a:endParaRPr lang="fr-FR" dirty="0"/>
          </a:p>
        </p:txBody>
      </p:sp>
      <p:sp>
        <p:nvSpPr>
          <p:cNvPr id="29" name="ZoneTexte 32">
            <a:extLst>
              <a:ext uri="{FF2B5EF4-FFF2-40B4-BE49-F238E27FC236}">
                <a16:creationId xmlns:a16="http://schemas.microsoft.com/office/drawing/2014/main" id="{18F5B26A-A0F2-1E2F-1031-74679ABCFAEE}"/>
              </a:ext>
            </a:extLst>
          </p:cNvPr>
          <p:cNvSpPr txBox="1"/>
          <p:nvPr/>
        </p:nvSpPr>
        <p:spPr>
          <a:xfrm>
            <a:off x="587653" y="2439119"/>
            <a:ext cx="2743200" cy="365760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/>
              <a:t>📋 Liste des personnes</a:t>
            </a:r>
          </a:p>
        </p:txBody>
      </p:sp>
      <p:sp>
        <p:nvSpPr>
          <p:cNvPr id="31" name="ZoneTexte 33">
            <a:extLst>
              <a:ext uri="{FF2B5EF4-FFF2-40B4-BE49-F238E27FC236}">
                <a16:creationId xmlns:a16="http://schemas.microsoft.com/office/drawing/2014/main" id="{1280A315-BD3C-FEE6-3BD9-38C19594775C}"/>
              </a:ext>
            </a:extLst>
          </p:cNvPr>
          <p:cNvSpPr txBox="1"/>
          <p:nvPr/>
        </p:nvSpPr>
        <p:spPr>
          <a:xfrm>
            <a:off x="587652" y="3163642"/>
            <a:ext cx="2930577" cy="369332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>
                <a:ea typeface="+mn-lt"/>
                <a:cs typeface="+mn-lt"/>
              </a:rPr>
              <a:t>🔗 Associés bien-personne</a:t>
            </a:r>
            <a:endParaRPr lang="fr-FR" dirty="0"/>
          </a:p>
        </p:txBody>
      </p:sp>
      <p:sp>
        <p:nvSpPr>
          <p:cNvPr id="33" name="ZoneTexte 34">
            <a:extLst>
              <a:ext uri="{FF2B5EF4-FFF2-40B4-BE49-F238E27FC236}">
                <a16:creationId xmlns:a16="http://schemas.microsoft.com/office/drawing/2014/main" id="{258B61A8-C273-4F13-CDF6-936DAD3A3DB1}"/>
              </a:ext>
            </a:extLst>
          </p:cNvPr>
          <p:cNvSpPr txBox="1"/>
          <p:nvPr/>
        </p:nvSpPr>
        <p:spPr>
          <a:xfrm>
            <a:off x="587653" y="3525906"/>
            <a:ext cx="3417757" cy="369332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>
                <a:ea typeface="+mn-lt"/>
                <a:cs typeface="+mn-lt"/>
              </a:rPr>
              <a:t>🕒 Historique des interactions</a:t>
            </a:r>
            <a:endParaRPr lang="fr-FR" dirty="0"/>
          </a:p>
        </p:txBody>
      </p:sp>
      <p:sp>
        <p:nvSpPr>
          <p:cNvPr id="35" name="ZoneTexte 35">
            <a:extLst>
              <a:ext uri="{FF2B5EF4-FFF2-40B4-BE49-F238E27FC236}">
                <a16:creationId xmlns:a16="http://schemas.microsoft.com/office/drawing/2014/main" id="{ACCC97B6-6765-C916-6D7B-CAA232DFD876}"/>
              </a:ext>
            </a:extLst>
          </p:cNvPr>
          <p:cNvSpPr txBox="1"/>
          <p:nvPr/>
        </p:nvSpPr>
        <p:spPr>
          <a:xfrm>
            <a:off x="587651" y="2801378"/>
            <a:ext cx="2743200" cy="369332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>
                <a:ea typeface="+mn-lt"/>
                <a:cs typeface="+mn-lt"/>
              </a:rPr>
              <a:t>➕ Nouvelle personne</a:t>
            </a:r>
            <a:endParaRPr lang="fr-FR" dirty="0"/>
          </a:p>
        </p:txBody>
      </p:sp>
      <p:sp>
        <p:nvSpPr>
          <p:cNvPr id="37" name="ZoneTexte 36">
            <a:extLst>
              <a:ext uri="{FF2B5EF4-FFF2-40B4-BE49-F238E27FC236}">
                <a16:creationId xmlns:a16="http://schemas.microsoft.com/office/drawing/2014/main" id="{C8F9049A-570A-444E-27A3-650BB86D8C2E}"/>
              </a:ext>
            </a:extLst>
          </p:cNvPr>
          <p:cNvSpPr txBox="1"/>
          <p:nvPr/>
        </p:nvSpPr>
        <p:spPr>
          <a:xfrm>
            <a:off x="587652" y="5686986"/>
            <a:ext cx="2743200" cy="369332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>
                <a:ea typeface="+mn-lt"/>
                <a:cs typeface="+mn-lt"/>
              </a:rPr>
              <a:t>📋 Tous les documents</a:t>
            </a:r>
            <a:endParaRPr lang="fr-FR" dirty="0"/>
          </a:p>
        </p:txBody>
      </p:sp>
      <p:sp>
        <p:nvSpPr>
          <p:cNvPr id="39" name="ZoneTexte 37">
            <a:extLst>
              <a:ext uri="{FF2B5EF4-FFF2-40B4-BE49-F238E27FC236}">
                <a16:creationId xmlns:a16="http://schemas.microsoft.com/office/drawing/2014/main" id="{4E34DA8B-2B7B-2672-E204-8650849CDE1E}"/>
              </a:ext>
            </a:extLst>
          </p:cNvPr>
          <p:cNvSpPr txBox="1"/>
          <p:nvPr/>
        </p:nvSpPr>
        <p:spPr>
          <a:xfrm>
            <a:off x="587651" y="6049248"/>
            <a:ext cx="2743200" cy="369332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/>
              <a:t>➕ Nouveau document</a:t>
            </a:r>
          </a:p>
        </p:txBody>
      </p:sp>
      <p:sp>
        <p:nvSpPr>
          <p:cNvPr id="41" name="ZoneTexte 38">
            <a:extLst>
              <a:ext uri="{FF2B5EF4-FFF2-40B4-BE49-F238E27FC236}">
                <a16:creationId xmlns:a16="http://schemas.microsoft.com/office/drawing/2014/main" id="{BEC5D3DC-6AB3-4712-6BCE-879632603E6B}"/>
              </a:ext>
            </a:extLst>
          </p:cNvPr>
          <p:cNvSpPr txBox="1"/>
          <p:nvPr/>
        </p:nvSpPr>
        <p:spPr>
          <a:xfrm>
            <a:off x="587652" y="4250428"/>
            <a:ext cx="2743200" cy="369332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>
                <a:ea typeface="+mn-lt"/>
                <a:cs typeface="+mn-lt"/>
              </a:rPr>
              <a:t>📋 Liste des événements</a:t>
            </a:r>
            <a:endParaRPr lang="fr-FR" dirty="0"/>
          </a:p>
        </p:txBody>
      </p:sp>
      <p:sp>
        <p:nvSpPr>
          <p:cNvPr id="43" name="ZoneTexte 39">
            <a:extLst>
              <a:ext uri="{FF2B5EF4-FFF2-40B4-BE49-F238E27FC236}">
                <a16:creationId xmlns:a16="http://schemas.microsoft.com/office/drawing/2014/main" id="{C3880F5F-4F03-AF44-A6E9-FB813B79DC44}"/>
              </a:ext>
            </a:extLst>
          </p:cNvPr>
          <p:cNvSpPr txBox="1"/>
          <p:nvPr/>
        </p:nvSpPr>
        <p:spPr>
          <a:xfrm>
            <a:off x="587652" y="4974953"/>
            <a:ext cx="3417757" cy="369332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/>
              <a:t>🕒 Historique des interactions</a:t>
            </a:r>
          </a:p>
        </p:txBody>
      </p:sp>
      <p:sp>
        <p:nvSpPr>
          <p:cNvPr id="45" name="ZoneTexte 40">
            <a:extLst>
              <a:ext uri="{FF2B5EF4-FFF2-40B4-BE49-F238E27FC236}">
                <a16:creationId xmlns:a16="http://schemas.microsoft.com/office/drawing/2014/main" id="{E2B9A31A-23C2-5D62-ADAD-A686D4600B34}"/>
              </a:ext>
            </a:extLst>
          </p:cNvPr>
          <p:cNvSpPr txBox="1"/>
          <p:nvPr/>
        </p:nvSpPr>
        <p:spPr>
          <a:xfrm>
            <a:off x="587652" y="4612691"/>
            <a:ext cx="2743200" cy="369332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/>
              <a:t>➕ Nouvel événement</a:t>
            </a:r>
          </a:p>
        </p:txBody>
      </p:sp>
      <p:graphicFrame>
        <p:nvGraphicFramePr>
          <p:cNvPr id="47" name="Tableau 46">
            <a:extLst>
              <a:ext uri="{FF2B5EF4-FFF2-40B4-BE49-F238E27FC236}">
                <a16:creationId xmlns:a16="http://schemas.microsoft.com/office/drawing/2014/main" id="{C71B1A83-417B-81FC-B37B-BA7D39E134A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65699859"/>
              </p:ext>
            </p:extLst>
          </p:nvPr>
        </p:nvGraphicFramePr>
        <p:xfrm>
          <a:off x="222636" y="247507"/>
          <a:ext cx="3474051" cy="370840"/>
        </p:xfrm>
        <a:graphic>
          <a:graphicData uri="http://schemas.openxmlformats.org/drawingml/2006/table">
            <a:tbl>
              <a:tblPr firstRow="1" bandRow="1">
                <a:tableStyleId>{16D9F66E-5EB9-4882-86FB-DCBF35E3C3E4}</a:tableStyleId>
              </a:tblPr>
              <a:tblGrid>
                <a:gridCol w="3474051">
                  <a:extLst>
                    <a:ext uri="{9D8B030D-6E8A-4147-A177-3AD203B41FA5}">
                      <a16:colId xmlns:a16="http://schemas.microsoft.com/office/drawing/2014/main" val="307642867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FR" sz="1800" b="0" i="0" u="none" strike="noStrike" noProof="0" dirty="0">
                          <a:solidFill>
                            <a:srgbClr val="000000"/>
                          </a:solidFill>
                          <a:latin typeface="Aptos"/>
                        </a:rPr>
                        <a:t>🏠 Tableau de bord</a:t>
                      </a:r>
                      <a:endParaRPr lang="fr-FR" sz="1800"/>
                    </a:p>
                  </a:txBody>
                  <a:tcPr>
                    <a:lnL w="38100">
                      <a:solidFill>
                        <a:schemeClr val="tx1"/>
                      </a:solidFill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8341867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452094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5" name="Tableau 44">
            <a:extLst>
              <a:ext uri="{FF2B5EF4-FFF2-40B4-BE49-F238E27FC236}">
                <a16:creationId xmlns:a16="http://schemas.microsoft.com/office/drawing/2014/main" id="{9696113E-B014-47AA-54B8-29DED79D6F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4015383"/>
              </p:ext>
            </p:extLst>
          </p:nvPr>
        </p:nvGraphicFramePr>
        <p:xfrm>
          <a:off x="-33130" y="0"/>
          <a:ext cx="12231144" cy="686867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2231144">
                  <a:extLst>
                    <a:ext uri="{9D8B030D-6E8A-4147-A177-3AD203B41FA5}">
                      <a16:colId xmlns:a16="http://schemas.microsoft.com/office/drawing/2014/main" val="134455847"/>
                    </a:ext>
                  </a:extLst>
                </a:gridCol>
              </a:tblGrid>
              <a:tr h="6868670"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84406124"/>
                  </a:ext>
                </a:extLst>
              </a:tr>
            </a:tbl>
          </a:graphicData>
        </a:graphic>
      </p:graphicFrame>
      <p:sp>
        <p:nvSpPr>
          <p:cNvPr id="48" name="Rectangle 19">
            <a:extLst>
              <a:ext uri="{FF2B5EF4-FFF2-40B4-BE49-F238E27FC236}">
                <a16:creationId xmlns:a16="http://schemas.microsoft.com/office/drawing/2014/main" id="{8462F8B8-7FEA-81A2-3ACA-FBC93AF93B36}"/>
              </a:ext>
            </a:extLst>
          </p:cNvPr>
          <p:cNvSpPr/>
          <p:nvPr/>
        </p:nvSpPr>
        <p:spPr>
          <a:xfrm>
            <a:off x="70395" y="17345"/>
            <a:ext cx="3725673" cy="6769883"/>
          </a:xfrm>
          <a:prstGeom prst="roundRect">
            <a:avLst/>
          </a:prstGeom>
          <a:solidFill>
            <a:schemeClr val="bg1"/>
          </a:solidFill>
          <a:ln w="12700">
            <a:solidFill>
              <a:srgbClr val="644CFF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fr-FR" dirty="0"/>
          </a:p>
        </p:txBody>
      </p:sp>
      <p:sp>
        <p:nvSpPr>
          <p:cNvPr id="49" name="ZoneTexte 22">
            <a:extLst>
              <a:ext uri="{FF2B5EF4-FFF2-40B4-BE49-F238E27FC236}">
                <a16:creationId xmlns:a16="http://schemas.microsoft.com/office/drawing/2014/main" id="{362C0D52-726D-BC99-8DA6-7EB5035E3CC1}"/>
              </a:ext>
            </a:extLst>
          </p:cNvPr>
          <p:cNvSpPr txBox="1"/>
          <p:nvPr/>
        </p:nvSpPr>
        <p:spPr>
          <a:xfrm>
            <a:off x="192531" y="2430395"/>
            <a:ext cx="2743200" cy="365760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>
                <a:ea typeface="+mn-lt"/>
                <a:cs typeface="+mn-lt"/>
              </a:rPr>
              <a:t>🏢 Biens</a:t>
            </a:r>
            <a:endParaRPr lang="fr-FR" dirty="0"/>
          </a:p>
        </p:txBody>
      </p:sp>
      <p:sp>
        <p:nvSpPr>
          <p:cNvPr id="50" name="ZoneTexte 23">
            <a:extLst>
              <a:ext uri="{FF2B5EF4-FFF2-40B4-BE49-F238E27FC236}">
                <a16:creationId xmlns:a16="http://schemas.microsoft.com/office/drawing/2014/main" id="{9033C7E0-CE88-8E38-0DFC-429BEE814098}"/>
              </a:ext>
            </a:extLst>
          </p:cNvPr>
          <p:cNvSpPr txBox="1"/>
          <p:nvPr/>
        </p:nvSpPr>
        <p:spPr>
          <a:xfrm>
            <a:off x="192531" y="2844274"/>
            <a:ext cx="2743200" cy="365760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>
                <a:ea typeface="+mn-lt"/>
                <a:cs typeface="+mn-lt"/>
              </a:rPr>
              <a:t>👥 Personnes</a:t>
            </a:r>
            <a:endParaRPr lang="fr-FR" dirty="0"/>
          </a:p>
        </p:txBody>
      </p:sp>
      <p:sp>
        <p:nvSpPr>
          <p:cNvPr id="51" name="ZoneTexte 24">
            <a:extLst>
              <a:ext uri="{FF2B5EF4-FFF2-40B4-BE49-F238E27FC236}">
                <a16:creationId xmlns:a16="http://schemas.microsoft.com/office/drawing/2014/main" id="{2FACF5C7-7AAF-2E69-9A80-8FF564577AC8}"/>
              </a:ext>
            </a:extLst>
          </p:cNvPr>
          <p:cNvSpPr txBox="1"/>
          <p:nvPr/>
        </p:nvSpPr>
        <p:spPr>
          <a:xfrm>
            <a:off x="192532" y="3260982"/>
            <a:ext cx="2743200" cy="365760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>
                <a:ea typeface="+mn-lt"/>
                <a:cs typeface="+mn-lt"/>
              </a:rPr>
              <a:t>📅 Événements</a:t>
            </a:r>
            <a:endParaRPr lang="fr-FR" dirty="0"/>
          </a:p>
        </p:txBody>
      </p:sp>
      <p:sp>
        <p:nvSpPr>
          <p:cNvPr id="52" name="ZoneTexte 25">
            <a:extLst>
              <a:ext uri="{FF2B5EF4-FFF2-40B4-BE49-F238E27FC236}">
                <a16:creationId xmlns:a16="http://schemas.microsoft.com/office/drawing/2014/main" id="{CA3BDE51-3784-CCFC-3B22-A35B12F287DD}"/>
              </a:ext>
            </a:extLst>
          </p:cNvPr>
          <p:cNvSpPr txBox="1"/>
          <p:nvPr/>
        </p:nvSpPr>
        <p:spPr>
          <a:xfrm>
            <a:off x="192532" y="3703616"/>
            <a:ext cx="2743200" cy="365760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>
                <a:ea typeface="+mn-lt"/>
                <a:cs typeface="+mn-lt"/>
              </a:rPr>
              <a:t>📂 Documents</a:t>
            </a:r>
            <a:endParaRPr lang="fr-FR" dirty="0"/>
          </a:p>
        </p:txBody>
      </p:sp>
      <p:sp>
        <p:nvSpPr>
          <p:cNvPr id="53" name="ZoneTexte 26">
            <a:extLst>
              <a:ext uri="{FF2B5EF4-FFF2-40B4-BE49-F238E27FC236}">
                <a16:creationId xmlns:a16="http://schemas.microsoft.com/office/drawing/2014/main" id="{D0E6644A-3092-BEDA-044C-CF2C7F305E0A}"/>
              </a:ext>
            </a:extLst>
          </p:cNvPr>
          <p:cNvSpPr txBox="1"/>
          <p:nvPr/>
        </p:nvSpPr>
        <p:spPr>
          <a:xfrm>
            <a:off x="194615" y="4138471"/>
            <a:ext cx="2743200" cy="369332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>
                <a:ea typeface="+mn-lt"/>
                <a:cs typeface="+mn-lt"/>
              </a:rPr>
              <a:t>👤 Utilisateurs</a:t>
            </a:r>
          </a:p>
        </p:txBody>
      </p:sp>
      <p:graphicFrame>
        <p:nvGraphicFramePr>
          <p:cNvPr id="66" name="Tableau 65">
            <a:extLst>
              <a:ext uri="{FF2B5EF4-FFF2-40B4-BE49-F238E27FC236}">
                <a16:creationId xmlns:a16="http://schemas.microsoft.com/office/drawing/2014/main" id="{47BCD2AF-5CBD-1C3B-DA24-AC87F09EC9E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81825278"/>
              </p:ext>
            </p:extLst>
          </p:nvPr>
        </p:nvGraphicFramePr>
        <p:xfrm>
          <a:off x="192839" y="1978208"/>
          <a:ext cx="3474051" cy="370840"/>
        </p:xfrm>
        <a:graphic>
          <a:graphicData uri="http://schemas.openxmlformats.org/drawingml/2006/table">
            <a:tbl>
              <a:tblPr firstRow="1" bandRow="1">
                <a:tableStyleId>{16D9F66E-5EB9-4882-86FB-DCBF35E3C3E4}</a:tableStyleId>
              </a:tblPr>
              <a:tblGrid>
                <a:gridCol w="3474051">
                  <a:extLst>
                    <a:ext uri="{9D8B030D-6E8A-4147-A177-3AD203B41FA5}">
                      <a16:colId xmlns:a16="http://schemas.microsoft.com/office/drawing/2014/main" val="307642867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FR" sz="1800" b="0" i="0" u="none" strike="noStrike" noProof="0" dirty="0">
                          <a:solidFill>
                            <a:srgbClr val="000000"/>
                          </a:solidFill>
                          <a:latin typeface="Aptos"/>
                        </a:rPr>
                        <a:t>🏠 Tableau de bord</a:t>
                      </a:r>
                      <a:endParaRPr lang="fr-FR" sz="1800"/>
                    </a:p>
                  </a:txBody>
                  <a:tcPr>
                    <a:lnL w="38100">
                      <a:solidFill>
                        <a:schemeClr val="tx1"/>
                      </a:solidFill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83418677"/>
                  </a:ext>
                </a:extLst>
              </a:tr>
            </a:tbl>
          </a:graphicData>
        </a:graphic>
      </p:graphicFrame>
      <p:graphicFrame>
        <p:nvGraphicFramePr>
          <p:cNvPr id="70" name="Tableau 69">
            <a:extLst>
              <a:ext uri="{FF2B5EF4-FFF2-40B4-BE49-F238E27FC236}">
                <a16:creationId xmlns:a16="http://schemas.microsoft.com/office/drawing/2014/main" id="{4F950399-1153-6E95-D3C0-BEEBFA7F925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37073993"/>
              </p:ext>
            </p:extLst>
          </p:nvPr>
        </p:nvGraphicFramePr>
        <p:xfrm>
          <a:off x="3966375" y="324811"/>
          <a:ext cx="8168640" cy="370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33728">
                  <a:extLst>
                    <a:ext uri="{9D8B030D-6E8A-4147-A177-3AD203B41FA5}">
                      <a16:colId xmlns:a16="http://schemas.microsoft.com/office/drawing/2014/main" val="1063228795"/>
                    </a:ext>
                  </a:extLst>
                </a:gridCol>
                <a:gridCol w="1633728">
                  <a:extLst>
                    <a:ext uri="{9D8B030D-6E8A-4147-A177-3AD203B41FA5}">
                      <a16:colId xmlns:a16="http://schemas.microsoft.com/office/drawing/2014/main" val="1967684858"/>
                    </a:ext>
                  </a:extLst>
                </a:gridCol>
                <a:gridCol w="1633728">
                  <a:extLst>
                    <a:ext uri="{9D8B030D-6E8A-4147-A177-3AD203B41FA5}">
                      <a16:colId xmlns:a16="http://schemas.microsoft.com/office/drawing/2014/main" val="711960213"/>
                    </a:ext>
                  </a:extLst>
                </a:gridCol>
                <a:gridCol w="1633728">
                  <a:extLst>
                    <a:ext uri="{9D8B030D-6E8A-4147-A177-3AD203B41FA5}">
                      <a16:colId xmlns:a16="http://schemas.microsoft.com/office/drawing/2014/main" val="4075932475"/>
                    </a:ext>
                  </a:extLst>
                </a:gridCol>
                <a:gridCol w="1633728">
                  <a:extLst>
                    <a:ext uri="{9D8B030D-6E8A-4147-A177-3AD203B41FA5}">
                      <a16:colId xmlns:a16="http://schemas.microsoft.com/office/drawing/2014/main" val="106743903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FR" sz="1800" b="1" u="sng" strike="noStrike" noProof="0" dirty="0">
                          <a:solidFill>
                            <a:schemeClr val="accent6"/>
                          </a:solidFill>
                        </a:rPr>
                        <a:t>Achat</a:t>
                      </a:r>
                      <a:endParaRPr lang="fr-FR" b="1" u="sng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FR" sz="1800" u="none" strike="noStrike" noProof="0" dirty="0">
                          <a:solidFill>
                            <a:srgbClr val="000000"/>
                          </a:solidFill>
                        </a:rPr>
                        <a:t>Location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FR" sz="1800" u="none" strike="noStrike" noProof="0" dirty="0">
                          <a:solidFill>
                            <a:srgbClr val="000000"/>
                          </a:solidFill>
                        </a:rPr>
                        <a:t>Visites 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FR" sz="1800" u="none" strike="noStrike" noProof="0" dirty="0">
                          <a:solidFill>
                            <a:srgbClr val="000000"/>
                          </a:solidFill>
                        </a:rPr>
                        <a:t>Offres 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FR" sz="1800" u="none" strike="noStrike" noProof="0" dirty="0">
                          <a:solidFill>
                            <a:srgbClr val="000000"/>
                          </a:solidFill>
                        </a:rPr>
                        <a:t>Contrats </a:t>
                      </a:r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11027943"/>
                  </a:ext>
                </a:extLst>
              </a:tr>
            </a:tbl>
          </a:graphicData>
        </a:graphic>
      </p:graphicFrame>
      <p:sp>
        <p:nvSpPr>
          <p:cNvPr id="71" name="Rectangle : coins arrondis 70">
            <a:extLst>
              <a:ext uri="{FF2B5EF4-FFF2-40B4-BE49-F238E27FC236}">
                <a16:creationId xmlns:a16="http://schemas.microsoft.com/office/drawing/2014/main" id="{7C7438EA-8DDC-ADE3-5DFD-BB3608EE7A74}"/>
              </a:ext>
            </a:extLst>
          </p:cNvPr>
          <p:cNvSpPr/>
          <p:nvPr/>
        </p:nvSpPr>
        <p:spPr>
          <a:xfrm>
            <a:off x="3958168" y="701066"/>
            <a:ext cx="8151066" cy="6105717"/>
          </a:xfrm>
          <a:prstGeom prst="roundRect">
            <a:avLst/>
          </a:prstGeom>
          <a:ln w="12700">
            <a:solidFill>
              <a:srgbClr val="5943E2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graphicFrame>
        <p:nvGraphicFramePr>
          <p:cNvPr id="72" name="Tableau 71">
            <a:extLst>
              <a:ext uri="{FF2B5EF4-FFF2-40B4-BE49-F238E27FC236}">
                <a16:creationId xmlns:a16="http://schemas.microsoft.com/office/drawing/2014/main" id="{AD62C78F-9F7C-1BEE-D6BD-AB040313BA9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73334581"/>
              </p:ext>
            </p:extLst>
          </p:nvPr>
        </p:nvGraphicFramePr>
        <p:xfrm>
          <a:off x="4484586" y="880527"/>
          <a:ext cx="8168640" cy="370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168640">
                  <a:extLst>
                    <a:ext uri="{9D8B030D-6E8A-4147-A177-3AD203B41FA5}">
                      <a16:colId xmlns:a16="http://schemas.microsoft.com/office/drawing/2014/main" val="27993633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249 résultats à Namur, Belgique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73447222"/>
                  </a:ext>
                </a:extLst>
              </a:tr>
            </a:tbl>
          </a:graphicData>
        </a:graphic>
      </p:graphicFrame>
      <p:sp>
        <p:nvSpPr>
          <p:cNvPr id="8" name="Rectangle : coins arrondis 7">
            <a:extLst>
              <a:ext uri="{FF2B5EF4-FFF2-40B4-BE49-F238E27FC236}">
                <a16:creationId xmlns:a16="http://schemas.microsoft.com/office/drawing/2014/main" id="{6D7270D6-E615-55F0-6962-3A63906830F9}"/>
              </a:ext>
            </a:extLst>
          </p:cNvPr>
          <p:cNvSpPr/>
          <p:nvPr/>
        </p:nvSpPr>
        <p:spPr>
          <a:xfrm>
            <a:off x="4315069" y="1257561"/>
            <a:ext cx="1031583" cy="358254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100" dirty="0">
                <a:solidFill>
                  <a:schemeClr val="bg1">
                    <a:lumMod val="76000"/>
                  </a:schemeClr>
                </a:solidFill>
              </a:rPr>
              <a:t>Localisation</a:t>
            </a:r>
          </a:p>
        </p:txBody>
      </p:sp>
      <p:sp>
        <p:nvSpPr>
          <p:cNvPr id="10" name="Rectangle : coins arrondis 9">
            <a:extLst>
              <a:ext uri="{FF2B5EF4-FFF2-40B4-BE49-F238E27FC236}">
                <a16:creationId xmlns:a16="http://schemas.microsoft.com/office/drawing/2014/main" id="{8C8D73F2-35BE-2C10-0905-2CEC6A796AF1}"/>
              </a:ext>
            </a:extLst>
          </p:cNvPr>
          <p:cNvSpPr/>
          <p:nvPr/>
        </p:nvSpPr>
        <p:spPr>
          <a:xfrm>
            <a:off x="5580276" y="1257561"/>
            <a:ext cx="744036" cy="358254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FR" sz="1100" dirty="0">
                <a:solidFill>
                  <a:schemeClr val="bg1">
                    <a:lumMod val="76000"/>
                  </a:schemeClr>
                </a:solidFill>
              </a:rPr>
              <a:t>Prix max</a:t>
            </a:r>
          </a:p>
        </p:txBody>
      </p:sp>
      <p:sp>
        <p:nvSpPr>
          <p:cNvPr id="11" name="Rectangle : coins arrondis 10">
            <a:extLst>
              <a:ext uri="{FF2B5EF4-FFF2-40B4-BE49-F238E27FC236}">
                <a16:creationId xmlns:a16="http://schemas.microsoft.com/office/drawing/2014/main" id="{E5E8BFC8-37B3-94F8-AFA1-BB25EC2976F2}"/>
              </a:ext>
            </a:extLst>
          </p:cNvPr>
          <p:cNvSpPr/>
          <p:nvPr/>
        </p:nvSpPr>
        <p:spPr>
          <a:xfrm>
            <a:off x="6557937" y="1257560"/>
            <a:ext cx="974074" cy="358254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FR" sz="1100" dirty="0">
                <a:solidFill>
                  <a:schemeClr val="bg1">
                    <a:lumMod val="76000"/>
                  </a:schemeClr>
                </a:solidFill>
              </a:rPr>
              <a:t>Type de bien</a:t>
            </a:r>
          </a:p>
        </p:txBody>
      </p:sp>
      <p:sp>
        <p:nvSpPr>
          <p:cNvPr id="12" name="Rectangle : coins arrondis 11">
            <a:extLst>
              <a:ext uri="{FF2B5EF4-FFF2-40B4-BE49-F238E27FC236}">
                <a16:creationId xmlns:a16="http://schemas.microsoft.com/office/drawing/2014/main" id="{F49BC62B-AF03-F7E8-4B2C-8B5C827CD3B0}"/>
              </a:ext>
            </a:extLst>
          </p:cNvPr>
          <p:cNvSpPr/>
          <p:nvPr/>
        </p:nvSpPr>
        <p:spPr>
          <a:xfrm>
            <a:off x="7765634" y="1257560"/>
            <a:ext cx="801546" cy="372631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FR" sz="1100" dirty="0">
                <a:solidFill>
                  <a:schemeClr val="bg1">
                    <a:lumMod val="76000"/>
                  </a:schemeClr>
                </a:solidFill>
              </a:rPr>
              <a:t>Surface</a:t>
            </a:r>
          </a:p>
        </p:txBody>
      </p:sp>
      <p:sp>
        <p:nvSpPr>
          <p:cNvPr id="4" name="Rectangle : coins arrondis 3">
            <a:extLst>
              <a:ext uri="{FF2B5EF4-FFF2-40B4-BE49-F238E27FC236}">
                <a16:creationId xmlns:a16="http://schemas.microsoft.com/office/drawing/2014/main" id="{73374B08-A196-1ED0-57C6-AE6BEC680CE2}"/>
              </a:ext>
            </a:extLst>
          </p:cNvPr>
          <p:cNvSpPr/>
          <p:nvPr/>
        </p:nvSpPr>
        <p:spPr>
          <a:xfrm>
            <a:off x="8800803" y="1257559"/>
            <a:ext cx="657773" cy="372631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FR" sz="1100" dirty="0">
                <a:solidFill>
                  <a:schemeClr val="bg1">
                    <a:lumMod val="76000"/>
                  </a:schemeClr>
                </a:solidFill>
              </a:rPr>
              <a:t>Statut</a:t>
            </a:r>
          </a:p>
        </p:txBody>
      </p:sp>
      <p:sp>
        <p:nvSpPr>
          <p:cNvPr id="9" name="Rectangle : coins arrondis 8">
            <a:extLst>
              <a:ext uri="{FF2B5EF4-FFF2-40B4-BE49-F238E27FC236}">
                <a16:creationId xmlns:a16="http://schemas.microsoft.com/office/drawing/2014/main" id="{B7BCF806-B823-C1C4-F7DD-4E922766AEA6}"/>
              </a:ext>
            </a:extLst>
          </p:cNvPr>
          <p:cNvSpPr/>
          <p:nvPr/>
        </p:nvSpPr>
        <p:spPr>
          <a:xfrm>
            <a:off x="9692199" y="1257558"/>
            <a:ext cx="657773" cy="372631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FR" sz="1100" dirty="0">
                <a:solidFill>
                  <a:schemeClr val="bg1">
                    <a:lumMod val="76000"/>
                  </a:schemeClr>
                </a:solidFill>
              </a:rPr>
              <a:t>Filtrer</a:t>
            </a:r>
          </a:p>
        </p:txBody>
      </p:sp>
      <p:graphicFrame>
        <p:nvGraphicFramePr>
          <p:cNvPr id="14" name="Tableau 13">
            <a:extLst>
              <a:ext uri="{FF2B5EF4-FFF2-40B4-BE49-F238E27FC236}">
                <a16:creationId xmlns:a16="http://schemas.microsoft.com/office/drawing/2014/main" id="{9DE0C2A7-1C7D-52C2-727D-A4B8F69B08E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39532991"/>
              </p:ext>
            </p:extLst>
          </p:nvPr>
        </p:nvGraphicFramePr>
        <p:xfrm>
          <a:off x="4226943" y="1883433"/>
          <a:ext cx="7631571" cy="44500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543857">
                  <a:extLst>
                    <a:ext uri="{9D8B030D-6E8A-4147-A177-3AD203B41FA5}">
                      <a16:colId xmlns:a16="http://schemas.microsoft.com/office/drawing/2014/main" val="208111563"/>
                    </a:ext>
                  </a:extLst>
                </a:gridCol>
                <a:gridCol w="2543857">
                  <a:extLst>
                    <a:ext uri="{9D8B030D-6E8A-4147-A177-3AD203B41FA5}">
                      <a16:colId xmlns:a16="http://schemas.microsoft.com/office/drawing/2014/main" val="2453003517"/>
                    </a:ext>
                  </a:extLst>
                </a:gridCol>
                <a:gridCol w="2543857">
                  <a:extLst>
                    <a:ext uri="{9D8B030D-6E8A-4147-A177-3AD203B41FA5}">
                      <a16:colId xmlns:a16="http://schemas.microsoft.com/office/drawing/2014/main" val="966702556"/>
                    </a:ext>
                  </a:extLst>
                </a:gridCol>
              </a:tblGrid>
              <a:tr h="2116758">
                <a:tc>
                  <a:txBody>
                    <a:bodyPr/>
                    <a:lstStyle/>
                    <a:p>
                      <a:endParaRPr lang="fr-FR" dirty="0">
                        <a:solidFill>
                          <a:schemeClr val="tx1"/>
                        </a:solidFill>
                      </a:endParaRPr>
                    </a:p>
                    <a:p>
                      <a:pPr lvl="0">
                        <a:buNone/>
                      </a:pPr>
                      <a:endParaRPr lang="fr-FR" dirty="0">
                        <a:solidFill>
                          <a:schemeClr val="tx1"/>
                        </a:solidFill>
                      </a:endParaRPr>
                    </a:p>
                    <a:p>
                      <a:pPr lvl="0">
                        <a:buNone/>
                      </a:pPr>
                      <a:endParaRPr lang="fr-FR" dirty="0">
                        <a:solidFill>
                          <a:schemeClr val="tx1"/>
                        </a:solidFill>
                      </a:endParaRPr>
                    </a:p>
                    <a:p>
                      <a:pPr lvl="0">
                        <a:buNone/>
                      </a:pPr>
                      <a:endParaRPr lang="fr-FR" dirty="0">
                        <a:solidFill>
                          <a:schemeClr val="tx1"/>
                        </a:solidFill>
                      </a:endParaRPr>
                    </a:p>
                    <a:p>
                      <a:pPr lvl="0">
                        <a:buNone/>
                      </a:pPr>
                      <a:endParaRPr lang="fr-FR" dirty="0">
                        <a:solidFill>
                          <a:schemeClr val="tx1"/>
                        </a:solidFill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400" b="1" u="none" strike="noStrike" noProof="0" dirty="0">
                          <a:solidFill>
                            <a:schemeClr val="tx1"/>
                          </a:solidFill>
                        </a:rPr>
                        <a:t>Les Écuries</a:t>
                      </a:r>
                      <a:endParaRPr lang="fr-FR" b="1" dirty="0">
                        <a:solidFill>
                          <a:schemeClr val="tx1"/>
                        </a:solidFill>
                      </a:endParaRPr>
                    </a:p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400" u="none" strike="noStrike" noProof="0" dirty="0">
                          <a:solidFill>
                            <a:schemeClr val="tx1"/>
                          </a:solidFill>
                        </a:rPr>
                        <a:t>954 099 € </a:t>
                      </a:r>
                      <a:endParaRPr lang="fr-FR" sz="1400" dirty="0">
                        <a:solidFill>
                          <a:schemeClr val="tx1"/>
                        </a:solidFill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400" u="none" strike="noStrike" noProof="0" dirty="0">
                          <a:solidFill>
                            <a:schemeClr val="tx1"/>
                          </a:solidFill>
                        </a:rPr>
                        <a:t>📍 Terry Lane, CO 4403</a:t>
                      </a:r>
                      <a:endParaRPr lang="fr-FR" sz="14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fr-FR" sz="1400" u="none" strike="noStrike" noProof="0" dirty="0">
                        <a:solidFill>
                          <a:schemeClr val="tx1"/>
                        </a:solidFill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fr-FR" sz="1400" u="none" strike="noStrike" noProof="0" dirty="0">
                        <a:solidFill>
                          <a:schemeClr val="tx1"/>
                        </a:solidFill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fr-FR" sz="1400" u="none" strike="noStrike" noProof="0" dirty="0">
                        <a:solidFill>
                          <a:schemeClr val="tx1"/>
                        </a:solidFill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fr-FR" sz="1400" u="none" strike="noStrike" noProof="0" dirty="0">
                        <a:solidFill>
                          <a:schemeClr val="tx1"/>
                        </a:solidFill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fr-FR" sz="1400" u="none" strike="noStrike" noProof="0" dirty="0">
                        <a:solidFill>
                          <a:schemeClr val="tx1"/>
                        </a:solidFill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fr-FR" sz="1400" u="none" strike="noStrike" noProof="0" dirty="0">
                        <a:solidFill>
                          <a:schemeClr val="tx1"/>
                        </a:solidFill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fr-FR" sz="1400" u="none" strike="noStrike" noProof="0" dirty="0">
                        <a:solidFill>
                          <a:schemeClr val="tx1"/>
                        </a:solidFill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400" b="1" i="0" u="none" strike="noStrike" noProof="0" err="1">
                          <a:solidFill>
                            <a:schemeClr val="tx1"/>
                          </a:solidFill>
                          <a:latin typeface="Aptos"/>
                        </a:rPr>
                        <a:t>Greenacres</a:t>
                      </a:r>
                      <a:endParaRPr lang="fr-FR" b="1" err="1"/>
                    </a:p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400" u="none" strike="noStrike" noProof="0" dirty="0">
                          <a:solidFill>
                            <a:schemeClr val="tx1"/>
                          </a:solidFill>
                        </a:rPr>
                        <a:t>980 089 € </a:t>
                      </a: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400" u="none" strike="noStrike" noProof="0" dirty="0">
                          <a:solidFill>
                            <a:schemeClr val="tx1"/>
                          </a:solidFill>
                        </a:rPr>
                        <a:t>📍 Terry Lane, CO 4403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fr-FR" sz="1400" u="none" strike="noStrike" noProof="0" dirty="0">
                        <a:solidFill>
                          <a:schemeClr val="tx1"/>
                        </a:solidFill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fr-FR" sz="1400" u="none" strike="noStrike" noProof="0" dirty="0">
                        <a:solidFill>
                          <a:schemeClr val="tx1"/>
                        </a:solidFill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fr-FR" sz="1400" u="none" strike="noStrike" noProof="0" dirty="0">
                        <a:solidFill>
                          <a:schemeClr val="tx1"/>
                        </a:solidFill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fr-FR" sz="1400" u="none" strike="noStrike" noProof="0" dirty="0">
                        <a:solidFill>
                          <a:schemeClr val="tx1"/>
                        </a:solidFill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fr-FR" sz="1400" u="none" strike="noStrike" noProof="0" dirty="0">
                        <a:solidFill>
                          <a:schemeClr val="tx1"/>
                        </a:solidFill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fr-FR" sz="1400" u="none" strike="noStrike" noProof="0" dirty="0">
                        <a:solidFill>
                          <a:schemeClr val="tx1"/>
                        </a:solidFill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fr-FR" sz="1400" u="none" strike="noStrike" noProof="0" dirty="0">
                        <a:solidFill>
                          <a:schemeClr val="tx1"/>
                        </a:solidFill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400" b="1" i="0" u="none" strike="noStrike" noProof="0" dirty="0">
                          <a:solidFill>
                            <a:schemeClr val="tx1"/>
                          </a:solidFill>
                          <a:latin typeface="Aptos"/>
                        </a:rPr>
                        <a:t>L’Ancien Presbytère</a:t>
                      </a:r>
                      <a:endParaRPr lang="fr-FR" b="1" dirty="0"/>
                    </a:p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400" b="0" i="0" u="none" strike="noStrike" noProof="0" dirty="0">
                          <a:solidFill>
                            <a:schemeClr val="tx1"/>
                          </a:solidFill>
                          <a:latin typeface="Aptos"/>
                        </a:rPr>
                        <a:t>599 999</a:t>
                      </a:r>
                      <a:r>
                        <a:rPr lang="fr-FR" sz="1400" u="none" strike="noStrike" noProof="0" dirty="0">
                          <a:solidFill>
                            <a:schemeClr val="tx1"/>
                          </a:solidFill>
                        </a:rPr>
                        <a:t> € </a:t>
                      </a:r>
                      <a:endParaRPr lang="fr-FR" dirty="0"/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400" u="none" strike="noStrike" noProof="0" dirty="0">
                          <a:solidFill>
                            <a:schemeClr val="tx1"/>
                          </a:solidFill>
                        </a:rPr>
                        <a:t>📍 </a:t>
                      </a:r>
                      <a:r>
                        <a:rPr lang="fr-FR" sz="1400" b="0" i="0" u="none" strike="noStrike" noProof="0" dirty="0">
                          <a:solidFill>
                            <a:schemeClr val="tx1"/>
                          </a:solidFill>
                          <a:latin typeface="Aptos"/>
                        </a:rPr>
                        <a:t>Yule Street,  8007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28592912"/>
                  </a:ext>
                </a:extLst>
              </a:tr>
              <a:tr h="2116758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fr-FR" sz="1400" u="none" strike="noStrike" noProof="0" dirty="0">
                        <a:solidFill>
                          <a:schemeClr val="tx1"/>
                        </a:solidFill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fr-FR" sz="1400" u="none" strike="noStrike" noProof="0" dirty="0">
                        <a:solidFill>
                          <a:schemeClr val="tx1"/>
                        </a:solidFill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fr-FR" sz="1400" u="none" strike="noStrike" noProof="0" dirty="0">
                        <a:solidFill>
                          <a:schemeClr val="tx1"/>
                        </a:solidFill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fr-FR" sz="1400" u="none" strike="noStrike" noProof="0" dirty="0">
                        <a:solidFill>
                          <a:schemeClr val="tx1"/>
                        </a:solidFill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fr-FR" sz="1400" u="none" strike="noStrike" noProof="0" dirty="0">
                        <a:solidFill>
                          <a:schemeClr val="tx1"/>
                        </a:solidFill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fr-FR" sz="1400" u="none" strike="noStrike" noProof="0" dirty="0">
                        <a:solidFill>
                          <a:schemeClr val="tx1"/>
                        </a:solidFill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fr-FR" sz="1400" u="none" strike="noStrike" noProof="0" dirty="0">
                        <a:solidFill>
                          <a:schemeClr val="tx1"/>
                        </a:solidFill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400" b="1" dirty="0"/>
                        <a:t>Le Cottage Blanc</a:t>
                      </a:r>
                      <a:endParaRPr lang="fr-FR" sz="1400" dirty="0"/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400" b="0" i="0" u="none" strike="noStrike" noProof="0" dirty="0">
                          <a:solidFill>
                            <a:schemeClr val="tx1"/>
                          </a:solidFill>
                          <a:latin typeface="Aptos"/>
                        </a:rPr>
                        <a:t>2 998,99 €</a:t>
                      </a:r>
                      <a:endParaRPr lang="fr-FR" dirty="0"/>
                    </a:p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400" b="0" i="0" u="none" strike="noStrike" noProof="0" dirty="0">
                          <a:solidFill>
                            <a:schemeClr val="tx1"/>
                          </a:solidFill>
                          <a:latin typeface="Aptos"/>
                        </a:rPr>
                        <a:t>📍Yule Street, 8007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fr-FR" sz="1400" u="none" strike="noStrike" noProof="0" dirty="0">
                        <a:solidFill>
                          <a:schemeClr val="tx1"/>
                        </a:solidFill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fr-FR" sz="1400" u="none" strike="noStrike" noProof="0" dirty="0">
                        <a:solidFill>
                          <a:schemeClr val="tx1"/>
                        </a:solidFill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fr-FR" sz="1400" u="none" strike="noStrike" noProof="0" dirty="0">
                        <a:solidFill>
                          <a:schemeClr val="tx1"/>
                        </a:solidFill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fr-FR" sz="1400" u="none" strike="noStrike" noProof="0" dirty="0">
                        <a:solidFill>
                          <a:schemeClr val="tx1"/>
                        </a:solidFill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fr-FR" sz="1400" u="none" strike="noStrike" noProof="0" dirty="0">
                        <a:solidFill>
                          <a:schemeClr val="tx1"/>
                        </a:solidFill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fr-FR" sz="1400" u="none" strike="noStrike" noProof="0" dirty="0">
                        <a:solidFill>
                          <a:schemeClr val="tx1"/>
                        </a:solidFill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fr-FR" sz="1400" u="none" strike="noStrike" noProof="0" dirty="0">
                        <a:solidFill>
                          <a:schemeClr val="tx1"/>
                        </a:solidFill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400" b="1" i="0" u="none" strike="noStrike" noProof="0" dirty="0">
                          <a:solidFill>
                            <a:schemeClr val="tx1"/>
                          </a:solidFill>
                          <a:latin typeface="Aptos"/>
                        </a:rPr>
                        <a:t>Vue sur la Prairie</a:t>
                      </a:r>
                      <a:endParaRPr lang="fr-FR" b="1" dirty="0"/>
                    </a:p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400" b="0" i="0" u="none" strike="noStrike" noProof="0" dirty="0">
                          <a:solidFill>
                            <a:schemeClr val="tx1"/>
                          </a:solidFill>
                          <a:latin typeface="Aptos"/>
                        </a:rPr>
                        <a:t>954 090</a:t>
                      </a:r>
                      <a:r>
                        <a:rPr lang="fr-FR" sz="1400" u="none" strike="noStrike" noProof="0" dirty="0">
                          <a:solidFill>
                            <a:schemeClr val="tx1"/>
                          </a:solidFill>
                        </a:rPr>
                        <a:t> € </a:t>
                      </a:r>
                      <a:endParaRPr lang="fr-FR" dirty="0"/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400" u="none" strike="noStrike" noProof="0" dirty="0">
                          <a:solidFill>
                            <a:schemeClr val="tx1"/>
                          </a:solidFill>
                        </a:rPr>
                        <a:t>📍 </a:t>
                      </a:r>
                      <a:r>
                        <a:rPr lang="fr-FR" sz="1400" b="0" i="0" u="none" strike="noStrike" noProof="0" dirty="0" err="1">
                          <a:solidFill>
                            <a:schemeClr val="tx1"/>
                          </a:solidFill>
                          <a:latin typeface="Aptos"/>
                        </a:rPr>
                        <a:t>Doane</a:t>
                      </a:r>
                      <a:r>
                        <a:rPr lang="fr-FR" sz="1400" b="0" i="0" u="none" strike="noStrike" noProof="0" dirty="0">
                          <a:solidFill>
                            <a:schemeClr val="tx1"/>
                          </a:solidFill>
                          <a:latin typeface="Aptos"/>
                        </a:rPr>
                        <a:t> Street, 9453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fr-FR" sz="1400" u="none" strike="noStrike" noProof="0" dirty="0">
                        <a:solidFill>
                          <a:schemeClr val="tx1"/>
                        </a:solidFill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fr-FR" sz="1400" u="none" strike="noStrike" noProof="0" dirty="0">
                        <a:solidFill>
                          <a:schemeClr val="tx1"/>
                        </a:solidFill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fr-FR" sz="1400" u="none" strike="noStrike" noProof="0" dirty="0">
                        <a:solidFill>
                          <a:schemeClr val="tx1"/>
                        </a:solidFill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fr-FR" sz="1400" u="none" strike="noStrike" noProof="0" dirty="0">
                        <a:solidFill>
                          <a:schemeClr val="tx1"/>
                        </a:solidFill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fr-FR" sz="1400" u="none" strike="noStrike" noProof="0" dirty="0">
                        <a:solidFill>
                          <a:schemeClr val="tx1"/>
                        </a:solidFill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fr-FR" sz="1400" u="none" strike="noStrike" noProof="0" dirty="0">
                        <a:solidFill>
                          <a:schemeClr val="tx1"/>
                        </a:solidFill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fr-FR" sz="1400" u="none" strike="noStrike" noProof="0" dirty="0">
                        <a:solidFill>
                          <a:schemeClr val="tx1"/>
                        </a:solidFill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400" b="1" i="0" u="none" strike="noStrike" noProof="0" dirty="0">
                          <a:solidFill>
                            <a:schemeClr val="tx1"/>
                          </a:solidFill>
                          <a:latin typeface="Aptos"/>
                        </a:rPr>
                        <a:t>Le Chalet Holly</a:t>
                      </a:r>
                      <a:endParaRPr lang="fr-FR" b="1" dirty="0"/>
                    </a:p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400" b="0" i="0" u="none" strike="noStrike" noProof="0" dirty="0">
                          <a:solidFill>
                            <a:schemeClr val="tx1"/>
                          </a:solidFill>
                          <a:latin typeface="Aptos"/>
                        </a:rPr>
                        <a:t>299 899</a:t>
                      </a:r>
                      <a:r>
                        <a:rPr lang="fr-FR" sz="1400" u="none" strike="noStrike" noProof="0" dirty="0">
                          <a:solidFill>
                            <a:schemeClr val="tx1"/>
                          </a:solidFill>
                        </a:rPr>
                        <a:t> € </a:t>
                      </a:r>
                      <a:endParaRPr lang="fr-FR" dirty="0"/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400" u="none" strike="noStrike" noProof="0" dirty="0">
                          <a:solidFill>
                            <a:schemeClr val="tx1"/>
                          </a:solidFill>
                        </a:rPr>
                        <a:t>📍 </a:t>
                      </a:r>
                      <a:r>
                        <a:rPr lang="fr-FR" sz="1400" b="0" i="0" u="none" strike="noStrike" noProof="0" dirty="0">
                          <a:solidFill>
                            <a:schemeClr val="tx1"/>
                          </a:solidFill>
                          <a:latin typeface="Aptos"/>
                        </a:rPr>
                        <a:t>Alice Court, 2401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949068"/>
                  </a:ext>
                </a:extLst>
              </a:tr>
            </a:tbl>
          </a:graphicData>
        </a:graphic>
      </p:graphicFrame>
      <p:pic>
        <p:nvPicPr>
          <p:cNvPr id="2" name="Image 1" descr="Une image contenant bâtiment, ciel, propriété, Station thermale&#10;&#10;Le contenu généré par l’IA peut être incorrect.">
            <a:extLst>
              <a:ext uri="{FF2B5EF4-FFF2-40B4-BE49-F238E27FC236}">
                <a16:creationId xmlns:a16="http://schemas.microsoft.com/office/drawing/2014/main" id="{EF09A526-C377-9812-8BFF-3464609A0B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1860" y="1967991"/>
            <a:ext cx="2374960" cy="1283000"/>
          </a:xfrm>
          <a:prstGeom prst="rect">
            <a:avLst/>
          </a:prstGeom>
        </p:spPr>
      </p:pic>
      <p:pic>
        <p:nvPicPr>
          <p:cNvPr id="3" name="Image 2" descr="Une image contenant architecture, bâtiment, ciel, Biens immobiliers&#10;&#10;Le contenu généré par l’IA peut être incorrect.">
            <a:extLst>
              <a:ext uri="{FF2B5EF4-FFF2-40B4-BE49-F238E27FC236}">
                <a16:creationId xmlns:a16="http://schemas.microsoft.com/office/drawing/2014/main" id="{8D4F6695-C0A4-E0FB-B5A6-4285789B24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6173" y="4144094"/>
            <a:ext cx="2366334" cy="1272756"/>
          </a:xfrm>
          <a:prstGeom prst="rect">
            <a:avLst/>
          </a:prstGeom>
        </p:spPr>
      </p:pic>
      <p:pic>
        <p:nvPicPr>
          <p:cNvPr id="5" name="Image 4" descr="Une image contenant arbre, bâtiment, plein air, maison&#10;&#10;Le contenu généré par l’IA peut être incorrect.">
            <a:extLst>
              <a:ext uri="{FF2B5EF4-FFF2-40B4-BE49-F238E27FC236}">
                <a16:creationId xmlns:a16="http://schemas.microsoft.com/office/drawing/2014/main" id="{DF09E990-B8CA-735B-A5DE-7D4636A04EF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21428" y="1976707"/>
            <a:ext cx="2413240" cy="1268622"/>
          </a:xfrm>
          <a:prstGeom prst="rect">
            <a:avLst/>
          </a:prstGeom>
        </p:spPr>
      </p:pic>
      <p:pic>
        <p:nvPicPr>
          <p:cNvPr id="6" name="Image 5" descr="Une image contenant bâtiment, plein air, propriété, piscine&#10;&#10;Le contenu généré par l’IA peut être incorrect.">
            <a:extLst>
              <a:ext uri="{FF2B5EF4-FFF2-40B4-BE49-F238E27FC236}">
                <a16:creationId xmlns:a16="http://schemas.microsoft.com/office/drawing/2014/main" id="{6D93D68D-6205-E556-A1E0-1A8A296B75A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84193" y="1965924"/>
            <a:ext cx="2402457" cy="1288571"/>
          </a:xfrm>
          <a:prstGeom prst="rect">
            <a:avLst/>
          </a:prstGeom>
        </p:spPr>
      </p:pic>
      <p:pic>
        <p:nvPicPr>
          <p:cNvPr id="7" name="Image 6" descr="Une image contenant bâtiment, maison, plein air, propriété&#10;&#10;Le contenu généré par l’IA peut être incorrect.">
            <a:extLst>
              <a:ext uri="{FF2B5EF4-FFF2-40B4-BE49-F238E27FC236}">
                <a16:creationId xmlns:a16="http://schemas.microsoft.com/office/drawing/2014/main" id="{E28AC7A3-3D94-E767-EF30-CF6AE4E9E1C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27898" y="4138972"/>
            <a:ext cx="2403716" cy="1283000"/>
          </a:xfrm>
          <a:prstGeom prst="rect">
            <a:avLst/>
          </a:prstGeom>
        </p:spPr>
      </p:pic>
      <p:pic>
        <p:nvPicPr>
          <p:cNvPr id="13" name="Image 12" descr="Une image contenant bâtiment, arbre, maison, plein air&#10;&#10;Le contenu généré par l’IA peut être incorrect.">
            <a:extLst>
              <a:ext uri="{FF2B5EF4-FFF2-40B4-BE49-F238E27FC236}">
                <a16:creationId xmlns:a16="http://schemas.microsoft.com/office/drawing/2014/main" id="{FDC7AE4B-765F-0507-90F3-B616D2150B8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90662" y="4142567"/>
            <a:ext cx="2381969" cy="12844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41693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A2C3BD-BEB2-A87A-DB1D-90DCD5C471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5" name="Tableau 44">
            <a:extLst>
              <a:ext uri="{FF2B5EF4-FFF2-40B4-BE49-F238E27FC236}">
                <a16:creationId xmlns:a16="http://schemas.microsoft.com/office/drawing/2014/main" id="{35FCA169-1420-B456-843A-88D7E49DB451}"/>
              </a:ext>
            </a:extLst>
          </p:cNvPr>
          <p:cNvGraphicFramePr>
            <a:graphicFrameLocks noGrp="1"/>
          </p:cNvGraphicFramePr>
          <p:nvPr/>
        </p:nvGraphicFramePr>
        <p:xfrm>
          <a:off x="-33130" y="0"/>
          <a:ext cx="12231144" cy="686867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2231144">
                  <a:extLst>
                    <a:ext uri="{9D8B030D-6E8A-4147-A177-3AD203B41FA5}">
                      <a16:colId xmlns:a16="http://schemas.microsoft.com/office/drawing/2014/main" val="134455847"/>
                    </a:ext>
                  </a:extLst>
                </a:gridCol>
              </a:tblGrid>
              <a:tr h="6868670"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84406124"/>
                  </a:ext>
                </a:extLst>
              </a:tr>
            </a:tbl>
          </a:graphicData>
        </a:graphic>
      </p:graphicFrame>
      <p:sp>
        <p:nvSpPr>
          <p:cNvPr id="48" name="Rectangle 19">
            <a:extLst>
              <a:ext uri="{FF2B5EF4-FFF2-40B4-BE49-F238E27FC236}">
                <a16:creationId xmlns:a16="http://schemas.microsoft.com/office/drawing/2014/main" id="{31478E5F-756A-36A5-2C68-CB62524CF382}"/>
              </a:ext>
            </a:extLst>
          </p:cNvPr>
          <p:cNvSpPr/>
          <p:nvPr/>
        </p:nvSpPr>
        <p:spPr>
          <a:xfrm>
            <a:off x="70395" y="17345"/>
            <a:ext cx="3725673" cy="6769883"/>
          </a:xfrm>
          <a:prstGeom prst="roundRect">
            <a:avLst/>
          </a:prstGeom>
          <a:solidFill>
            <a:schemeClr val="bg1"/>
          </a:solidFill>
          <a:ln w="12700">
            <a:solidFill>
              <a:srgbClr val="644CFF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fr-FR" dirty="0"/>
          </a:p>
        </p:txBody>
      </p:sp>
      <p:sp>
        <p:nvSpPr>
          <p:cNvPr id="16" name="ZoneTexte 22">
            <a:extLst>
              <a:ext uri="{FF2B5EF4-FFF2-40B4-BE49-F238E27FC236}">
                <a16:creationId xmlns:a16="http://schemas.microsoft.com/office/drawing/2014/main" id="{73F2794F-6BA6-D594-B681-B5E69487CB0B}"/>
              </a:ext>
            </a:extLst>
          </p:cNvPr>
          <p:cNvSpPr txBox="1"/>
          <p:nvPr/>
        </p:nvSpPr>
        <p:spPr>
          <a:xfrm>
            <a:off x="192531" y="1977612"/>
            <a:ext cx="2743200" cy="369332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>
                <a:ea typeface="+mn-lt"/>
                <a:cs typeface="+mn-lt"/>
              </a:rPr>
              <a:t>🏠 Tableau de bord</a:t>
            </a:r>
            <a:endParaRPr lang="fr-FR" dirty="0"/>
          </a:p>
        </p:txBody>
      </p:sp>
      <p:sp>
        <p:nvSpPr>
          <p:cNvPr id="18" name="ZoneTexte 23">
            <a:extLst>
              <a:ext uri="{FF2B5EF4-FFF2-40B4-BE49-F238E27FC236}">
                <a16:creationId xmlns:a16="http://schemas.microsoft.com/office/drawing/2014/main" id="{DF6F6D7A-2193-CE8B-37E5-448D6A567AEE}"/>
              </a:ext>
            </a:extLst>
          </p:cNvPr>
          <p:cNvSpPr txBox="1"/>
          <p:nvPr/>
        </p:nvSpPr>
        <p:spPr>
          <a:xfrm>
            <a:off x="192531" y="4014882"/>
            <a:ext cx="2743200" cy="365760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>
                <a:ea typeface="+mn-lt"/>
                <a:cs typeface="+mn-lt"/>
              </a:rPr>
              <a:t>👥 Personnes</a:t>
            </a:r>
            <a:endParaRPr lang="fr-FR" dirty="0"/>
          </a:p>
        </p:txBody>
      </p:sp>
      <p:sp>
        <p:nvSpPr>
          <p:cNvPr id="20" name="ZoneTexte 24">
            <a:extLst>
              <a:ext uri="{FF2B5EF4-FFF2-40B4-BE49-F238E27FC236}">
                <a16:creationId xmlns:a16="http://schemas.microsoft.com/office/drawing/2014/main" id="{032C1BB7-0177-A9E4-1EB4-37745A650B8C}"/>
              </a:ext>
            </a:extLst>
          </p:cNvPr>
          <p:cNvSpPr txBox="1"/>
          <p:nvPr/>
        </p:nvSpPr>
        <p:spPr>
          <a:xfrm>
            <a:off x="192532" y="4431591"/>
            <a:ext cx="2743200" cy="365760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>
                <a:ea typeface="+mn-lt"/>
                <a:cs typeface="+mn-lt"/>
              </a:rPr>
              <a:t>📅 Événements</a:t>
            </a:r>
            <a:endParaRPr lang="fr-FR" dirty="0"/>
          </a:p>
        </p:txBody>
      </p:sp>
      <p:sp>
        <p:nvSpPr>
          <p:cNvPr id="22" name="ZoneTexte 25">
            <a:extLst>
              <a:ext uri="{FF2B5EF4-FFF2-40B4-BE49-F238E27FC236}">
                <a16:creationId xmlns:a16="http://schemas.microsoft.com/office/drawing/2014/main" id="{356AB2AD-CE56-D4CC-212C-AD3497972182}"/>
              </a:ext>
            </a:extLst>
          </p:cNvPr>
          <p:cNvSpPr txBox="1"/>
          <p:nvPr/>
        </p:nvSpPr>
        <p:spPr>
          <a:xfrm>
            <a:off x="192532" y="4874225"/>
            <a:ext cx="2743200" cy="365760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>
                <a:ea typeface="+mn-lt"/>
                <a:cs typeface="+mn-lt"/>
              </a:rPr>
              <a:t>📂 Documents</a:t>
            </a:r>
            <a:endParaRPr lang="fr-FR" dirty="0"/>
          </a:p>
        </p:txBody>
      </p:sp>
      <p:sp>
        <p:nvSpPr>
          <p:cNvPr id="24" name="ZoneTexte 26">
            <a:extLst>
              <a:ext uri="{FF2B5EF4-FFF2-40B4-BE49-F238E27FC236}">
                <a16:creationId xmlns:a16="http://schemas.microsoft.com/office/drawing/2014/main" id="{823DF835-7156-DBD6-D41F-A0DB896452E0}"/>
              </a:ext>
            </a:extLst>
          </p:cNvPr>
          <p:cNvSpPr txBox="1"/>
          <p:nvPr/>
        </p:nvSpPr>
        <p:spPr>
          <a:xfrm>
            <a:off x="194615" y="5309080"/>
            <a:ext cx="2743200" cy="369332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>
                <a:ea typeface="+mn-lt"/>
                <a:cs typeface="+mn-lt"/>
              </a:rPr>
              <a:t>👤 Utilisateurs</a:t>
            </a:r>
          </a:p>
        </p:txBody>
      </p:sp>
      <p:graphicFrame>
        <p:nvGraphicFramePr>
          <p:cNvPr id="26" name="Tableau 25">
            <a:extLst>
              <a:ext uri="{FF2B5EF4-FFF2-40B4-BE49-F238E27FC236}">
                <a16:creationId xmlns:a16="http://schemas.microsoft.com/office/drawing/2014/main" id="{3C8878E1-BFCF-9E8F-3583-E3117DE0B54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63426513"/>
              </p:ext>
            </p:extLst>
          </p:nvPr>
        </p:nvGraphicFramePr>
        <p:xfrm>
          <a:off x="192839" y="2419947"/>
          <a:ext cx="3474051" cy="372717"/>
        </p:xfrm>
        <a:graphic>
          <a:graphicData uri="http://schemas.openxmlformats.org/drawingml/2006/table">
            <a:tbl>
              <a:tblPr firstRow="1" bandRow="1">
                <a:tableStyleId>{16D9F66E-5EB9-4882-86FB-DCBF35E3C3E4}</a:tableStyleId>
              </a:tblPr>
              <a:tblGrid>
                <a:gridCol w="3474051">
                  <a:extLst>
                    <a:ext uri="{9D8B030D-6E8A-4147-A177-3AD203B41FA5}">
                      <a16:colId xmlns:a16="http://schemas.microsoft.com/office/drawing/2014/main" val="3076428675"/>
                    </a:ext>
                  </a:extLst>
                </a:gridCol>
              </a:tblGrid>
              <a:tr h="372717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FR" sz="1800" b="0" i="0" u="none" strike="noStrike" noProof="0" dirty="0">
                          <a:solidFill>
                            <a:srgbClr val="000000"/>
                          </a:solidFill>
                          <a:latin typeface="Aptos"/>
                        </a:rPr>
                        <a:t>🏢 Biens </a:t>
                      </a:r>
                      <a:endParaRPr lang="fr-FR" dirty="0"/>
                    </a:p>
                  </a:txBody>
                  <a:tcPr>
                    <a:lnL w="38100">
                      <a:solidFill>
                        <a:schemeClr val="tx1"/>
                      </a:solidFill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83418677"/>
                  </a:ext>
                </a:extLst>
              </a:tr>
            </a:tbl>
          </a:graphicData>
        </a:graphic>
      </p:graphicFrame>
      <p:sp>
        <p:nvSpPr>
          <p:cNvPr id="28" name="ZoneTexte 27">
            <a:extLst>
              <a:ext uri="{FF2B5EF4-FFF2-40B4-BE49-F238E27FC236}">
                <a16:creationId xmlns:a16="http://schemas.microsoft.com/office/drawing/2014/main" id="{6B5AA7F9-E00A-0A36-0640-E37E9B915526}"/>
              </a:ext>
            </a:extLst>
          </p:cNvPr>
          <p:cNvSpPr txBox="1"/>
          <p:nvPr/>
        </p:nvSpPr>
        <p:spPr>
          <a:xfrm>
            <a:off x="587653" y="2812243"/>
            <a:ext cx="3063460" cy="369332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>
                <a:ea typeface="+mn-lt"/>
                <a:cs typeface="+mn-lt"/>
              </a:rPr>
              <a:t>📋 Liste des biens                      </a:t>
            </a:r>
            <a:endParaRPr lang="fr-FR" dirty="0">
              <a:highlight>
                <a:srgbClr val="00FF00"/>
              </a:highlight>
            </a:endParaRPr>
          </a:p>
        </p:txBody>
      </p:sp>
      <p:sp>
        <p:nvSpPr>
          <p:cNvPr id="30" name="ZoneTexte 29">
            <a:extLst>
              <a:ext uri="{FF2B5EF4-FFF2-40B4-BE49-F238E27FC236}">
                <a16:creationId xmlns:a16="http://schemas.microsoft.com/office/drawing/2014/main" id="{F02BAB2F-35A9-F56F-B503-C976834A034C}"/>
              </a:ext>
            </a:extLst>
          </p:cNvPr>
          <p:cNvSpPr txBox="1"/>
          <p:nvPr/>
        </p:nvSpPr>
        <p:spPr>
          <a:xfrm>
            <a:off x="587652" y="3185548"/>
            <a:ext cx="3074504" cy="369332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>
                <a:ea typeface="+mn-lt"/>
                <a:cs typeface="+mn-lt"/>
              </a:rPr>
              <a:t>➕ Nouveau bien                      </a:t>
            </a:r>
            <a:r>
              <a:rPr lang="fr-FR" dirty="0">
                <a:highlight>
                  <a:srgbClr val="00FF00"/>
                </a:highlight>
                <a:ea typeface="+mn-lt"/>
                <a:cs typeface="+mn-lt"/>
              </a:rPr>
              <a:t>  </a:t>
            </a:r>
            <a:r>
              <a:rPr lang="fr-FR" dirty="0">
                <a:ea typeface="+mn-lt"/>
                <a:cs typeface="+mn-lt"/>
              </a:rPr>
              <a:t>   </a:t>
            </a:r>
            <a:endParaRPr lang="fr-FR" dirty="0"/>
          </a:p>
        </p:txBody>
      </p:sp>
      <p:sp>
        <p:nvSpPr>
          <p:cNvPr id="32" name="ZoneTexte 30">
            <a:extLst>
              <a:ext uri="{FF2B5EF4-FFF2-40B4-BE49-F238E27FC236}">
                <a16:creationId xmlns:a16="http://schemas.microsoft.com/office/drawing/2014/main" id="{017DD0CC-1E06-AB45-8464-12C090AD8934}"/>
              </a:ext>
            </a:extLst>
          </p:cNvPr>
          <p:cNvSpPr txBox="1"/>
          <p:nvPr/>
        </p:nvSpPr>
        <p:spPr>
          <a:xfrm>
            <a:off x="587653" y="3591985"/>
            <a:ext cx="2743200" cy="369332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>
                <a:ea typeface="+mn-lt"/>
                <a:cs typeface="+mn-lt"/>
              </a:rPr>
              <a:t>🕒 Historique des statuts</a:t>
            </a:r>
            <a:endParaRPr lang="fr-FR" dirty="0"/>
          </a:p>
        </p:txBody>
      </p:sp>
      <p:pic>
        <p:nvPicPr>
          <p:cNvPr id="33" name="Image 32" descr="Une image contenant texte, capture d’écran, nombre, affichage&#10;&#10;Le contenu généré par l’IA peut être incorrect.">
            <a:extLst>
              <a:ext uri="{FF2B5EF4-FFF2-40B4-BE49-F238E27FC236}">
                <a16:creationId xmlns:a16="http://schemas.microsoft.com/office/drawing/2014/main" id="{F6F213D7-3661-2C67-73AA-FC3AC6E0AA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20435" y="-4539"/>
            <a:ext cx="8271565" cy="68670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85894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C87C8B-9566-DF0A-83F0-136A788502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5" name="Tableau 44">
            <a:extLst>
              <a:ext uri="{FF2B5EF4-FFF2-40B4-BE49-F238E27FC236}">
                <a16:creationId xmlns:a16="http://schemas.microsoft.com/office/drawing/2014/main" id="{A1DDB052-AC31-2041-E6F6-3F5D366E33B6}"/>
              </a:ext>
            </a:extLst>
          </p:cNvPr>
          <p:cNvGraphicFramePr>
            <a:graphicFrameLocks noGrp="1"/>
          </p:cNvGraphicFramePr>
          <p:nvPr/>
        </p:nvGraphicFramePr>
        <p:xfrm>
          <a:off x="-33130" y="0"/>
          <a:ext cx="12231144" cy="686867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2231144">
                  <a:extLst>
                    <a:ext uri="{9D8B030D-6E8A-4147-A177-3AD203B41FA5}">
                      <a16:colId xmlns:a16="http://schemas.microsoft.com/office/drawing/2014/main" val="134455847"/>
                    </a:ext>
                  </a:extLst>
                </a:gridCol>
              </a:tblGrid>
              <a:tr h="6868670"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84406124"/>
                  </a:ext>
                </a:extLst>
              </a:tr>
            </a:tbl>
          </a:graphicData>
        </a:graphic>
      </p:graphicFrame>
      <p:sp>
        <p:nvSpPr>
          <p:cNvPr id="48" name="Rectangle 19">
            <a:extLst>
              <a:ext uri="{FF2B5EF4-FFF2-40B4-BE49-F238E27FC236}">
                <a16:creationId xmlns:a16="http://schemas.microsoft.com/office/drawing/2014/main" id="{7C16A65B-774A-BC29-D171-4B63838282D1}"/>
              </a:ext>
            </a:extLst>
          </p:cNvPr>
          <p:cNvSpPr/>
          <p:nvPr/>
        </p:nvSpPr>
        <p:spPr>
          <a:xfrm>
            <a:off x="70395" y="17345"/>
            <a:ext cx="3725673" cy="6769883"/>
          </a:xfrm>
          <a:prstGeom prst="roundRect">
            <a:avLst/>
          </a:prstGeom>
          <a:solidFill>
            <a:schemeClr val="bg1"/>
          </a:solidFill>
          <a:ln w="12700">
            <a:solidFill>
              <a:srgbClr val="644CFF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fr-FR" dirty="0"/>
          </a:p>
        </p:txBody>
      </p:sp>
      <p:sp>
        <p:nvSpPr>
          <p:cNvPr id="49" name="ZoneTexte 22">
            <a:extLst>
              <a:ext uri="{FF2B5EF4-FFF2-40B4-BE49-F238E27FC236}">
                <a16:creationId xmlns:a16="http://schemas.microsoft.com/office/drawing/2014/main" id="{FCAE9F05-7986-CF4A-D365-6CFA0A3F5C79}"/>
              </a:ext>
            </a:extLst>
          </p:cNvPr>
          <p:cNvSpPr txBox="1"/>
          <p:nvPr/>
        </p:nvSpPr>
        <p:spPr>
          <a:xfrm>
            <a:off x="192531" y="2430395"/>
            <a:ext cx="2743200" cy="365760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>
                <a:ea typeface="+mn-lt"/>
                <a:cs typeface="+mn-lt"/>
              </a:rPr>
              <a:t>🏢 Biens</a:t>
            </a:r>
            <a:endParaRPr lang="fr-FR" dirty="0"/>
          </a:p>
        </p:txBody>
      </p:sp>
      <p:sp>
        <p:nvSpPr>
          <p:cNvPr id="50" name="ZoneTexte 23">
            <a:extLst>
              <a:ext uri="{FF2B5EF4-FFF2-40B4-BE49-F238E27FC236}">
                <a16:creationId xmlns:a16="http://schemas.microsoft.com/office/drawing/2014/main" id="{23AF254D-CD52-F559-1A79-73521AE33B75}"/>
              </a:ext>
            </a:extLst>
          </p:cNvPr>
          <p:cNvSpPr txBox="1"/>
          <p:nvPr/>
        </p:nvSpPr>
        <p:spPr>
          <a:xfrm>
            <a:off x="192531" y="2844274"/>
            <a:ext cx="2743200" cy="365760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>
                <a:ea typeface="+mn-lt"/>
                <a:cs typeface="+mn-lt"/>
              </a:rPr>
              <a:t>👥 Personnes</a:t>
            </a:r>
            <a:endParaRPr lang="fr-FR" dirty="0"/>
          </a:p>
        </p:txBody>
      </p:sp>
      <p:sp>
        <p:nvSpPr>
          <p:cNvPr id="51" name="ZoneTexte 24">
            <a:extLst>
              <a:ext uri="{FF2B5EF4-FFF2-40B4-BE49-F238E27FC236}">
                <a16:creationId xmlns:a16="http://schemas.microsoft.com/office/drawing/2014/main" id="{B9FACC9F-85C1-48A7-A813-F26008F8DBC1}"/>
              </a:ext>
            </a:extLst>
          </p:cNvPr>
          <p:cNvSpPr txBox="1"/>
          <p:nvPr/>
        </p:nvSpPr>
        <p:spPr>
          <a:xfrm>
            <a:off x="192532" y="4784981"/>
            <a:ext cx="2743200" cy="365760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>
                <a:ea typeface="+mn-lt"/>
                <a:cs typeface="+mn-lt"/>
              </a:rPr>
              <a:t>📅 Événements</a:t>
            </a:r>
            <a:endParaRPr lang="fr-FR" dirty="0"/>
          </a:p>
        </p:txBody>
      </p:sp>
      <p:sp>
        <p:nvSpPr>
          <p:cNvPr id="52" name="ZoneTexte 25">
            <a:extLst>
              <a:ext uri="{FF2B5EF4-FFF2-40B4-BE49-F238E27FC236}">
                <a16:creationId xmlns:a16="http://schemas.microsoft.com/office/drawing/2014/main" id="{15DA68FC-0BE7-971A-5484-4EA0FB37338D}"/>
              </a:ext>
            </a:extLst>
          </p:cNvPr>
          <p:cNvSpPr txBox="1"/>
          <p:nvPr/>
        </p:nvSpPr>
        <p:spPr>
          <a:xfrm>
            <a:off x="192532" y="5227615"/>
            <a:ext cx="2743200" cy="365760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>
                <a:ea typeface="+mn-lt"/>
                <a:cs typeface="+mn-lt"/>
              </a:rPr>
              <a:t>📂 Documents</a:t>
            </a:r>
            <a:endParaRPr lang="fr-FR" dirty="0"/>
          </a:p>
        </p:txBody>
      </p:sp>
      <p:sp>
        <p:nvSpPr>
          <p:cNvPr id="53" name="ZoneTexte 26">
            <a:extLst>
              <a:ext uri="{FF2B5EF4-FFF2-40B4-BE49-F238E27FC236}">
                <a16:creationId xmlns:a16="http://schemas.microsoft.com/office/drawing/2014/main" id="{B909180D-D89C-1707-C5BF-EAB545CBB1B6}"/>
              </a:ext>
            </a:extLst>
          </p:cNvPr>
          <p:cNvSpPr txBox="1"/>
          <p:nvPr/>
        </p:nvSpPr>
        <p:spPr>
          <a:xfrm>
            <a:off x="194615" y="5662470"/>
            <a:ext cx="2743200" cy="369332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>
                <a:ea typeface="+mn-lt"/>
                <a:cs typeface="+mn-lt"/>
              </a:rPr>
              <a:t>👤 Utilisateurs</a:t>
            </a:r>
          </a:p>
        </p:txBody>
      </p:sp>
      <p:graphicFrame>
        <p:nvGraphicFramePr>
          <p:cNvPr id="66" name="Tableau 65">
            <a:extLst>
              <a:ext uri="{FF2B5EF4-FFF2-40B4-BE49-F238E27FC236}">
                <a16:creationId xmlns:a16="http://schemas.microsoft.com/office/drawing/2014/main" id="{7C306689-FB46-3318-2E09-0C9718C68960}"/>
              </a:ext>
            </a:extLst>
          </p:cNvPr>
          <p:cNvGraphicFramePr>
            <a:graphicFrameLocks noGrp="1"/>
          </p:cNvGraphicFramePr>
          <p:nvPr/>
        </p:nvGraphicFramePr>
        <p:xfrm>
          <a:off x="192839" y="1978208"/>
          <a:ext cx="3474051" cy="370840"/>
        </p:xfrm>
        <a:graphic>
          <a:graphicData uri="http://schemas.openxmlformats.org/drawingml/2006/table">
            <a:tbl>
              <a:tblPr firstRow="1" bandRow="1">
                <a:tableStyleId>{16D9F66E-5EB9-4882-86FB-DCBF35E3C3E4}</a:tableStyleId>
              </a:tblPr>
              <a:tblGrid>
                <a:gridCol w="3474051">
                  <a:extLst>
                    <a:ext uri="{9D8B030D-6E8A-4147-A177-3AD203B41FA5}">
                      <a16:colId xmlns:a16="http://schemas.microsoft.com/office/drawing/2014/main" val="307642867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FR" sz="1800" b="0" i="0" u="none" strike="noStrike" noProof="0" dirty="0">
                          <a:solidFill>
                            <a:srgbClr val="000000"/>
                          </a:solidFill>
                          <a:latin typeface="Aptos"/>
                        </a:rPr>
                        <a:t>🏠 Tableau de bord</a:t>
                      </a:r>
                      <a:endParaRPr lang="fr-FR" sz="1800"/>
                    </a:p>
                  </a:txBody>
                  <a:tcPr>
                    <a:lnL w="38100">
                      <a:solidFill>
                        <a:schemeClr val="tx1"/>
                      </a:solidFill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83418677"/>
                  </a:ext>
                </a:extLst>
              </a:tr>
            </a:tbl>
          </a:graphicData>
        </a:graphic>
      </p:graphicFrame>
      <p:sp>
        <p:nvSpPr>
          <p:cNvPr id="71" name="Rectangle : coins arrondis 70">
            <a:extLst>
              <a:ext uri="{FF2B5EF4-FFF2-40B4-BE49-F238E27FC236}">
                <a16:creationId xmlns:a16="http://schemas.microsoft.com/office/drawing/2014/main" id="{4ECE6543-478B-B508-5F3F-B52CB0854EAF}"/>
              </a:ext>
            </a:extLst>
          </p:cNvPr>
          <p:cNvSpPr/>
          <p:nvPr/>
        </p:nvSpPr>
        <p:spPr>
          <a:xfrm>
            <a:off x="3958168" y="701066"/>
            <a:ext cx="8151066" cy="6105717"/>
          </a:xfrm>
          <a:prstGeom prst="roundRect">
            <a:avLst/>
          </a:prstGeom>
          <a:ln w="12700">
            <a:solidFill>
              <a:srgbClr val="5943E2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graphicFrame>
        <p:nvGraphicFramePr>
          <p:cNvPr id="14" name="Tableau 13">
            <a:extLst>
              <a:ext uri="{FF2B5EF4-FFF2-40B4-BE49-F238E27FC236}">
                <a16:creationId xmlns:a16="http://schemas.microsoft.com/office/drawing/2014/main" id="{D21E8692-3BA1-404B-8333-63976FD3AC9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99696211"/>
              </p:ext>
            </p:extLst>
          </p:nvPr>
        </p:nvGraphicFramePr>
        <p:xfrm>
          <a:off x="4226943" y="1883433"/>
          <a:ext cx="7631571" cy="423351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543857">
                  <a:extLst>
                    <a:ext uri="{9D8B030D-6E8A-4147-A177-3AD203B41FA5}">
                      <a16:colId xmlns:a16="http://schemas.microsoft.com/office/drawing/2014/main" val="208111563"/>
                    </a:ext>
                  </a:extLst>
                </a:gridCol>
                <a:gridCol w="2543857">
                  <a:extLst>
                    <a:ext uri="{9D8B030D-6E8A-4147-A177-3AD203B41FA5}">
                      <a16:colId xmlns:a16="http://schemas.microsoft.com/office/drawing/2014/main" val="2453003517"/>
                    </a:ext>
                  </a:extLst>
                </a:gridCol>
                <a:gridCol w="2543857">
                  <a:extLst>
                    <a:ext uri="{9D8B030D-6E8A-4147-A177-3AD203B41FA5}">
                      <a16:colId xmlns:a16="http://schemas.microsoft.com/office/drawing/2014/main" val="966702556"/>
                    </a:ext>
                  </a:extLst>
                </a:gridCol>
              </a:tblGrid>
              <a:tr h="2116758">
                <a:tc>
                  <a:txBody>
                    <a:bodyPr/>
                    <a:lstStyle/>
                    <a:p>
                      <a:endParaRPr lang="fr-FR" sz="14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28592912"/>
                  </a:ext>
                </a:extLst>
              </a:tr>
              <a:tr h="2116758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949068"/>
                  </a:ext>
                </a:extLst>
              </a:tr>
            </a:tbl>
          </a:graphicData>
        </a:graphic>
      </p:graphicFrame>
      <p:sp>
        <p:nvSpPr>
          <p:cNvPr id="16" name="ZoneTexte 32">
            <a:extLst>
              <a:ext uri="{FF2B5EF4-FFF2-40B4-BE49-F238E27FC236}">
                <a16:creationId xmlns:a16="http://schemas.microsoft.com/office/drawing/2014/main" id="{22A859A8-1B3E-334B-A34B-165FD98359EB}"/>
              </a:ext>
            </a:extLst>
          </p:cNvPr>
          <p:cNvSpPr txBox="1"/>
          <p:nvPr/>
        </p:nvSpPr>
        <p:spPr>
          <a:xfrm>
            <a:off x="587653" y="3258628"/>
            <a:ext cx="3088256" cy="380137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/>
              <a:t>📋 Liste des personnes           </a:t>
            </a:r>
            <a:r>
              <a:rPr lang="fr-FR" dirty="0">
                <a:highlight>
                  <a:srgbClr val="00FF00"/>
                </a:highlight>
              </a:rPr>
              <a:t>  </a:t>
            </a:r>
          </a:p>
        </p:txBody>
      </p:sp>
      <p:sp>
        <p:nvSpPr>
          <p:cNvPr id="18" name="ZoneTexte 33">
            <a:extLst>
              <a:ext uri="{FF2B5EF4-FFF2-40B4-BE49-F238E27FC236}">
                <a16:creationId xmlns:a16="http://schemas.microsoft.com/office/drawing/2014/main" id="{CA394910-DB9D-CBAD-89AB-A6EC6188E0A1}"/>
              </a:ext>
            </a:extLst>
          </p:cNvPr>
          <p:cNvSpPr txBox="1"/>
          <p:nvPr/>
        </p:nvSpPr>
        <p:spPr>
          <a:xfrm>
            <a:off x="587652" y="3997528"/>
            <a:ext cx="2930577" cy="369332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>
                <a:ea typeface="+mn-lt"/>
                <a:cs typeface="+mn-lt"/>
              </a:rPr>
              <a:t>🔗 Associés bien-personne</a:t>
            </a:r>
            <a:endParaRPr lang="fr-FR" dirty="0"/>
          </a:p>
        </p:txBody>
      </p:sp>
      <p:sp>
        <p:nvSpPr>
          <p:cNvPr id="20" name="ZoneTexte 34">
            <a:extLst>
              <a:ext uri="{FF2B5EF4-FFF2-40B4-BE49-F238E27FC236}">
                <a16:creationId xmlns:a16="http://schemas.microsoft.com/office/drawing/2014/main" id="{77F4454D-8E1D-1003-BAF9-E7F4400E2346}"/>
              </a:ext>
            </a:extLst>
          </p:cNvPr>
          <p:cNvSpPr txBox="1"/>
          <p:nvPr/>
        </p:nvSpPr>
        <p:spPr>
          <a:xfrm>
            <a:off x="587653" y="4359792"/>
            <a:ext cx="3417757" cy="369332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>
                <a:ea typeface="+mn-lt"/>
                <a:cs typeface="+mn-lt"/>
              </a:rPr>
              <a:t>🕒 Historique des interactions</a:t>
            </a:r>
            <a:endParaRPr lang="fr-FR" dirty="0"/>
          </a:p>
        </p:txBody>
      </p:sp>
      <p:sp>
        <p:nvSpPr>
          <p:cNvPr id="22" name="ZoneTexte 35">
            <a:extLst>
              <a:ext uri="{FF2B5EF4-FFF2-40B4-BE49-F238E27FC236}">
                <a16:creationId xmlns:a16="http://schemas.microsoft.com/office/drawing/2014/main" id="{0F292E34-6772-E0C1-B2C8-A950ECAF9764}"/>
              </a:ext>
            </a:extLst>
          </p:cNvPr>
          <p:cNvSpPr txBox="1"/>
          <p:nvPr/>
        </p:nvSpPr>
        <p:spPr>
          <a:xfrm>
            <a:off x="587651" y="3635264"/>
            <a:ext cx="2743200" cy="369332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>
                <a:ea typeface="+mn-lt"/>
                <a:cs typeface="+mn-lt"/>
              </a:rPr>
              <a:t>➕ Nouvelle personne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5673326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562837-4C5E-3CDF-86F9-3A78DE1E7B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5" name="Tableau 44">
            <a:extLst>
              <a:ext uri="{FF2B5EF4-FFF2-40B4-BE49-F238E27FC236}">
                <a16:creationId xmlns:a16="http://schemas.microsoft.com/office/drawing/2014/main" id="{1EFDE476-72B5-C9D2-704C-FC2637C712B6}"/>
              </a:ext>
            </a:extLst>
          </p:cNvPr>
          <p:cNvGraphicFramePr>
            <a:graphicFrameLocks noGrp="1"/>
          </p:cNvGraphicFramePr>
          <p:nvPr/>
        </p:nvGraphicFramePr>
        <p:xfrm>
          <a:off x="-33130" y="0"/>
          <a:ext cx="12231144" cy="686867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2231144">
                  <a:extLst>
                    <a:ext uri="{9D8B030D-6E8A-4147-A177-3AD203B41FA5}">
                      <a16:colId xmlns:a16="http://schemas.microsoft.com/office/drawing/2014/main" val="134455847"/>
                    </a:ext>
                  </a:extLst>
                </a:gridCol>
              </a:tblGrid>
              <a:tr h="6868670"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84406124"/>
                  </a:ext>
                </a:extLst>
              </a:tr>
            </a:tbl>
          </a:graphicData>
        </a:graphic>
      </p:graphicFrame>
      <p:sp>
        <p:nvSpPr>
          <p:cNvPr id="48" name="Rectangle 19">
            <a:extLst>
              <a:ext uri="{FF2B5EF4-FFF2-40B4-BE49-F238E27FC236}">
                <a16:creationId xmlns:a16="http://schemas.microsoft.com/office/drawing/2014/main" id="{5E83A40C-25DC-F7B8-1FC9-874B09A715EF}"/>
              </a:ext>
            </a:extLst>
          </p:cNvPr>
          <p:cNvSpPr/>
          <p:nvPr/>
        </p:nvSpPr>
        <p:spPr>
          <a:xfrm>
            <a:off x="70395" y="17345"/>
            <a:ext cx="3725673" cy="6769883"/>
          </a:xfrm>
          <a:prstGeom prst="roundRect">
            <a:avLst/>
          </a:prstGeom>
          <a:solidFill>
            <a:schemeClr val="bg1"/>
          </a:solidFill>
          <a:ln w="12700">
            <a:solidFill>
              <a:srgbClr val="644CFF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fr-FR" dirty="0"/>
          </a:p>
        </p:txBody>
      </p:sp>
      <p:sp>
        <p:nvSpPr>
          <p:cNvPr id="49" name="ZoneTexte 22">
            <a:extLst>
              <a:ext uri="{FF2B5EF4-FFF2-40B4-BE49-F238E27FC236}">
                <a16:creationId xmlns:a16="http://schemas.microsoft.com/office/drawing/2014/main" id="{02D0C944-ACAD-405D-745E-FFDDFBE1FD85}"/>
              </a:ext>
            </a:extLst>
          </p:cNvPr>
          <p:cNvSpPr txBox="1"/>
          <p:nvPr/>
        </p:nvSpPr>
        <p:spPr>
          <a:xfrm>
            <a:off x="192531" y="2430395"/>
            <a:ext cx="2743200" cy="365760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>
                <a:ea typeface="+mn-lt"/>
                <a:cs typeface="+mn-lt"/>
              </a:rPr>
              <a:t>🏢 Biens</a:t>
            </a:r>
            <a:endParaRPr lang="fr-FR" dirty="0"/>
          </a:p>
        </p:txBody>
      </p:sp>
      <p:sp>
        <p:nvSpPr>
          <p:cNvPr id="50" name="ZoneTexte 23">
            <a:extLst>
              <a:ext uri="{FF2B5EF4-FFF2-40B4-BE49-F238E27FC236}">
                <a16:creationId xmlns:a16="http://schemas.microsoft.com/office/drawing/2014/main" id="{2AA58BE0-87FC-1978-DD7F-1AF8AB520C34}"/>
              </a:ext>
            </a:extLst>
          </p:cNvPr>
          <p:cNvSpPr txBox="1"/>
          <p:nvPr/>
        </p:nvSpPr>
        <p:spPr>
          <a:xfrm>
            <a:off x="192531" y="2844274"/>
            <a:ext cx="2743200" cy="365760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>
                <a:ea typeface="+mn-lt"/>
                <a:cs typeface="+mn-lt"/>
              </a:rPr>
              <a:t>👥 Personnes</a:t>
            </a:r>
            <a:endParaRPr lang="fr-FR" dirty="0"/>
          </a:p>
        </p:txBody>
      </p:sp>
      <p:sp>
        <p:nvSpPr>
          <p:cNvPr id="51" name="ZoneTexte 24">
            <a:extLst>
              <a:ext uri="{FF2B5EF4-FFF2-40B4-BE49-F238E27FC236}">
                <a16:creationId xmlns:a16="http://schemas.microsoft.com/office/drawing/2014/main" id="{3693E1BD-6ED5-9B21-A09C-2BADB52D1293}"/>
              </a:ext>
            </a:extLst>
          </p:cNvPr>
          <p:cNvSpPr txBox="1"/>
          <p:nvPr/>
        </p:nvSpPr>
        <p:spPr>
          <a:xfrm>
            <a:off x="192532" y="3260981"/>
            <a:ext cx="2743200" cy="365760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>
                <a:ea typeface="+mn-lt"/>
                <a:cs typeface="+mn-lt"/>
              </a:rPr>
              <a:t>📅 Événements</a:t>
            </a:r>
            <a:endParaRPr lang="fr-FR" dirty="0"/>
          </a:p>
        </p:txBody>
      </p:sp>
      <p:sp>
        <p:nvSpPr>
          <p:cNvPr id="52" name="ZoneTexte 25">
            <a:extLst>
              <a:ext uri="{FF2B5EF4-FFF2-40B4-BE49-F238E27FC236}">
                <a16:creationId xmlns:a16="http://schemas.microsoft.com/office/drawing/2014/main" id="{46F7C6B9-10C8-2945-49C1-9CC41688B4AC}"/>
              </a:ext>
            </a:extLst>
          </p:cNvPr>
          <p:cNvSpPr txBox="1"/>
          <p:nvPr/>
        </p:nvSpPr>
        <p:spPr>
          <a:xfrm>
            <a:off x="192532" y="4929441"/>
            <a:ext cx="2743200" cy="365760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>
                <a:ea typeface="+mn-lt"/>
                <a:cs typeface="+mn-lt"/>
              </a:rPr>
              <a:t>📂 Documents</a:t>
            </a:r>
            <a:endParaRPr lang="fr-FR" dirty="0"/>
          </a:p>
        </p:txBody>
      </p:sp>
      <p:sp>
        <p:nvSpPr>
          <p:cNvPr id="53" name="ZoneTexte 26">
            <a:extLst>
              <a:ext uri="{FF2B5EF4-FFF2-40B4-BE49-F238E27FC236}">
                <a16:creationId xmlns:a16="http://schemas.microsoft.com/office/drawing/2014/main" id="{92696D36-3F84-D150-1461-4830FAB2EF8E}"/>
              </a:ext>
            </a:extLst>
          </p:cNvPr>
          <p:cNvSpPr txBox="1"/>
          <p:nvPr/>
        </p:nvSpPr>
        <p:spPr>
          <a:xfrm>
            <a:off x="194615" y="5364297"/>
            <a:ext cx="2743200" cy="369332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>
                <a:ea typeface="+mn-lt"/>
                <a:cs typeface="+mn-lt"/>
              </a:rPr>
              <a:t>👤 Utilisateurs</a:t>
            </a:r>
          </a:p>
        </p:txBody>
      </p:sp>
      <p:graphicFrame>
        <p:nvGraphicFramePr>
          <p:cNvPr id="66" name="Tableau 65">
            <a:extLst>
              <a:ext uri="{FF2B5EF4-FFF2-40B4-BE49-F238E27FC236}">
                <a16:creationId xmlns:a16="http://schemas.microsoft.com/office/drawing/2014/main" id="{AEABB229-B884-2F48-4C04-D1013A87684C}"/>
              </a:ext>
            </a:extLst>
          </p:cNvPr>
          <p:cNvGraphicFramePr>
            <a:graphicFrameLocks noGrp="1"/>
          </p:cNvGraphicFramePr>
          <p:nvPr/>
        </p:nvGraphicFramePr>
        <p:xfrm>
          <a:off x="192839" y="1978208"/>
          <a:ext cx="3474051" cy="370840"/>
        </p:xfrm>
        <a:graphic>
          <a:graphicData uri="http://schemas.openxmlformats.org/drawingml/2006/table">
            <a:tbl>
              <a:tblPr firstRow="1" bandRow="1">
                <a:tableStyleId>{16D9F66E-5EB9-4882-86FB-DCBF35E3C3E4}</a:tableStyleId>
              </a:tblPr>
              <a:tblGrid>
                <a:gridCol w="3474051">
                  <a:extLst>
                    <a:ext uri="{9D8B030D-6E8A-4147-A177-3AD203B41FA5}">
                      <a16:colId xmlns:a16="http://schemas.microsoft.com/office/drawing/2014/main" val="307642867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FR" sz="1800" b="0" i="0" u="none" strike="noStrike" noProof="0" dirty="0">
                          <a:solidFill>
                            <a:srgbClr val="000000"/>
                          </a:solidFill>
                          <a:latin typeface="Aptos"/>
                        </a:rPr>
                        <a:t>🏠 Tableau de bord</a:t>
                      </a:r>
                      <a:endParaRPr lang="fr-FR" sz="1800"/>
                    </a:p>
                  </a:txBody>
                  <a:tcPr>
                    <a:lnL w="38100">
                      <a:solidFill>
                        <a:schemeClr val="tx1"/>
                      </a:solidFill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83418677"/>
                  </a:ext>
                </a:extLst>
              </a:tr>
            </a:tbl>
          </a:graphicData>
        </a:graphic>
      </p:graphicFrame>
      <p:sp>
        <p:nvSpPr>
          <p:cNvPr id="71" name="Rectangle : coins arrondis 70">
            <a:extLst>
              <a:ext uri="{FF2B5EF4-FFF2-40B4-BE49-F238E27FC236}">
                <a16:creationId xmlns:a16="http://schemas.microsoft.com/office/drawing/2014/main" id="{0D8173DF-C861-5AB0-B5F9-8F5EF782F1C4}"/>
              </a:ext>
            </a:extLst>
          </p:cNvPr>
          <p:cNvSpPr/>
          <p:nvPr/>
        </p:nvSpPr>
        <p:spPr>
          <a:xfrm>
            <a:off x="3958168" y="701066"/>
            <a:ext cx="8151066" cy="6105717"/>
          </a:xfrm>
          <a:prstGeom prst="roundRect">
            <a:avLst/>
          </a:prstGeom>
          <a:ln w="12700">
            <a:solidFill>
              <a:srgbClr val="5943E2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7" name="ZoneTexte 38">
            <a:extLst>
              <a:ext uri="{FF2B5EF4-FFF2-40B4-BE49-F238E27FC236}">
                <a16:creationId xmlns:a16="http://schemas.microsoft.com/office/drawing/2014/main" id="{723B2F3A-BCC0-82A1-F62D-55240CE60B3A}"/>
              </a:ext>
            </a:extLst>
          </p:cNvPr>
          <p:cNvSpPr txBox="1"/>
          <p:nvPr/>
        </p:nvSpPr>
        <p:spPr>
          <a:xfrm>
            <a:off x="587652" y="3720341"/>
            <a:ext cx="2743200" cy="369332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>
                <a:ea typeface="+mn-lt"/>
                <a:cs typeface="+mn-lt"/>
              </a:rPr>
              <a:t>📋 Liste des événements</a:t>
            </a:r>
            <a:endParaRPr lang="fr-FR" dirty="0"/>
          </a:p>
        </p:txBody>
      </p:sp>
      <p:sp>
        <p:nvSpPr>
          <p:cNvPr id="21" name="ZoneTexte 39">
            <a:extLst>
              <a:ext uri="{FF2B5EF4-FFF2-40B4-BE49-F238E27FC236}">
                <a16:creationId xmlns:a16="http://schemas.microsoft.com/office/drawing/2014/main" id="{185E7D00-72B7-C9F4-1B7A-DF91E627F852}"/>
              </a:ext>
            </a:extLst>
          </p:cNvPr>
          <p:cNvSpPr txBox="1"/>
          <p:nvPr/>
        </p:nvSpPr>
        <p:spPr>
          <a:xfrm>
            <a:off x="587652" y="4444866"/>
            <a:ext cx="3417757" cy="369332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/>
              <a:t>🕒 Historique des interactions</a:t>
            </a:r>
          </a:p>
        </p:txBody>
      </p:sp>
      <p:sp>
        <p:nvSpPr>
          <p:cNvPr id="24" name="ZoneTexte 40">
            <a:extLst>
              <a:ext uri="{FF2B5EF4-FFF2-40B4-BE49-F238E27FC236}">
                <a16:creationId xmlns:a16="http://schemas.microsoft.com/office/drawing/2014/main" id="{C63CDB62-BA10-E1AF-3969-692DC9150769}"/>
              </a:ext>
            </a:extLst>
          </p:cNvPr>
          <p:cNvSpPr txBox="1"/>
          <p:nvPr/>
        </p:nvSpPr>
        <p:spPr>
          <a:xfrm>
            <a:off x="587652" y="4082604"/>
            <a:ext cx="2743200" cy="369332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/>
              <a:t>➕ Nouvel événement</a:t>
            </a:r>
          </a:p>
        </p:txBody>
      </p:sp>
    </p:spTree>
    <p:extLst>
      <p:ext uri="{BB962C8B-B14F-4D97-AF65-F5344CB8AC3E}">
        <p14:creationId xmlns:p14="http://schemas.microsoft.com/office/powerpoint/2010/main" val="4046759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BABAE5-9CFD-9C27-F40D-82219FFC4C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5" name="Tableau 44">
            <a:extLst>
              <a:ext uri="{FF2B5EF4-FFF2-40B4-BE49-F238E27FC236}">
                <a16:creationId xmlns:a16="http://schemas.microsoft.com/office/drawing/2014/main" id="{4719B0F4-0272-818C-EC11-065493E9E116}"/>
              </a:ext>
            </a:extLst>
          </p:cNvPr>
          <p:cNvGraphicFramePr>
            <a:graphicFrameLocks noGrp="1"/>
          </p:cNvGraphicFramePr>
          <p:nvPr/>
        </p:nvGraphicFramePr>
        <p:xfrm>
          <a:off x="-33130" y="0"/>
          <a:ext cx="12231144" cy="686867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2231144">
                  <a:extLst>
                    <a:ext uri="{9D8B030D-6E8A-4147-A177-3AD203B41FA5}">
                      <a16:colId xmlns:a16="http://schemas.microsoft.com/office/drawing/2014/main" val="134455847"/>
                    </a:ext>
                  </a:extLst>
                </a:gridCol>
              </a:tblGrid>
              <a:tr h="6868670"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84406124"/>
                  </a:ext>
                </a:extLst>
              </a:tr>
            </a:tbl>
          </a:graphicData>
        </a:graphic>
      </p:graphicFrame>
      <p:sp>
        <p:nvSpPr>
          <p:cNvPr id="48" name="Rectangle 19">
            <a:extLst>
              <a:ext uri="{FF2B5EF4-FFF2-40B4-BE49-F238E27FC236}">
                <a16:creationId xmlns:a16="http://schemas.microsoft.com/office/drawing/2014/main" id="{7B99603B-64A7-6381-C25F-B4E57BFBBCC7}"/>
              </a:ext>
            </a:extLst>
          </p:cNvPr>
          <p:cNvSpPr/>
          <p:nvPr/>
        </p:nvSpPr>
        <p:spPr>
          <a:xfrm>
            <a:off x="70395" y="17345"/>
            <a:ext cx="3725673" cy="6769883"/>
          </a:xfrm>
          <a:prstGeom prst="roundRect">
            <a:avLst/>
          </a:prstGeom>
          <a:solidFill>
            <a:schemeClr val="bg1"/>
          </a:solidFill>
          <a:ln w="12700">
            <a:solidFill>
              <a:srgbClr val="644CFF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fr-FR" dirty="0"/>
          </a:p>
        </p:txBody>
      </p:sp>
      <p:sp>
        <p:nvSpPr>
          <p:cNvPr id="49" name="ZoneTexte 22">
            <a:extLst>
              <a:ext uri="{FF2B5EF4-FFF2-40B4-BE49-F238E27FC236}">
                <a16:creationId xmlns:a16="http://schemas.microsoft.com/office/drawing/2014/main" id="{0C739C03-9C68-B55A-BE94-E8EB1D432B17}"/>
              </a:ext>
            </a:extLst>
          </p:cNvPr>
          <p:cNvSpPr txBox="1"/>
          <p:nvPr/>
        </p:nvSpPr>
        <p:spPr>
          <a:xfrm>
            <a:off x="192531" y="2430395"/>
            <a:ext cx="2743200" cy="365760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>
                <a:ea typeface="+mn-lt"/>
                <a:cs typeface="+mn-lt"/>
              </a:rPr>
              <a:t>🏢 Biens</a:t>
            </a:r>
            <a:endParaRPr lang="fr-FR" dirty="0"/>
          </a:p>
        </p:txBody>
      </p:sp>
      <p:sp>
        <p:nvSpPr>
          <p:cNvPr id="50" name="ZoneTexte 23">
            <a:extLst>
              <a:ext uri="{FF2B5EF4-FFF2-40B4-BE49-F238E27FC236}">
                <a16:creationId xmlns:a16="http://schemas.microsoft.com/office/drawing/2014/main" id="{5795A05A-1C80-F599-FE35-EF3E63983B8D}"/>
              </a:ext>
            </a:extLst>
          </p:cNvPr>
          <p:cNvSpPr txBox="1"/>
          <p:nvPr/>
        </p:nvSpPr>
        <p:spPr>
          <a:xfrm>
            <a:off x="192531" y="2844274"/>
            <a:ext cx="2743200" cy="365760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>
                <a:ea typeface="+mn-lt"/>
                <a:cs typeface="+mn-lt"/>
              </a:rPr>
              <a:t>👥 Personnes</a:t>
            </a:r>
            <a:endParaRPr lang="fr-FR" dirty="0"/>
          </a:p>
        </p:txBody>
      </p:sp>
      <p:sp>
        <p:nvSpPr>
          <p:cNvPr id="51" name="ZoneTexte 24">
            <a:extLst>
              <a:ext uri="{FF2B5EF4-FFF2-40B4-BE49-F238E27FC236}">
                <a16:creationId xmlns:a16="http://schemas.microsoft.com/office/drawing/2014/main" id="{080877F1-8904-21B2-C528-878307E7A094}"/>
              </a:ext>
            </a:extLst>
          </p:cNvPr>
          <p:cNvSpPr txBox="1"/>
          <p:nvPr/>
        </p:nvSpPr>
        <p:spPr>
          <a:xfrm>
            <a:off x="192532" y="3260981"/>
            <a:ext cx="2743200" cy="365760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>
                <a:ea typeface="+mn-lt"/>
                <a:cs typeface="+mn-lt"/>
              </a:rPr>
              <a:t>📅 Événements</a:t>
            </a:r>
            <a:endParaRPr lang="fr-FR" dirty="0"/>
          </a:p>
        </p:txBody>
      </p:sp>
      <p:sp>
        <p:nvSpPr>
          <p:cNvPr id="52" name="ZoneTexte 25">
            <a:extLst>
              <a:ext uri="{FF2B5EF4-FFF2-40B4-BE49-F238E27FC236}">
                <a16:creationId xmlns:a16="http://schemas.microsoft.com/office/drawing/2014/main" id="{9DCB665A-FC4A-C1C2-F57F-AA02150F7D48}"/>
              </a:ext>
            </a:extLst>
          </p:cNvPr>
          <p:cNvSpPr txBox="1"/>
          <p:nvPr/>
        </p:nvSpPr>
        <p:spPr>
          <a:xfrm>
            <a:off x="192532" y="3714658"/>
            <a:ext cx="2743200" cy="365760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>
                <a:ea typeface="+mn-lt"/>
                <a:cs typeface="+mn-lt"/>
              </a:rPr>
              <a:t>📂 Documents</a:t>
            </a:r>
            <a:endParaRPr lang="fr-FR" dirty="0"/>
          </a:p>
        </p:txBody>
      </p:sp>
      <p:sp>
        <p:nvSpPr>
          <p:cNvPr id="53" name="ZoneTexte 26">
            <a:extLst>
              <a:ext uri="{FF2B5EF4-FFF2-40B4-BE49-F238E27FC236}">
                <a16:creationId xmlns:a16="http://schemas.microsoft.com/office/drawing/2014/main" id="{15525A20-D8C5-F3AC-C6FE-F8020489DABB}"/>
              </a:ext>
            </a:extLst>
          </p:cNvPr>
          <p:cNvSpPr txBox="1"/>
          <p:nvPr/>
        </p:nvSpPr>
        <p:spPr>
          <a:xfrm>
            <a:off x="194615" y="4977775"/>
            <a:ext cx="2743200" cy="369332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>
                <a:ea typeface="+mn-lt"/>
                <a:cs typeface="+mn-lt"/>
              </a:rPr>
              <a:t>👤 Utilisateurs</a:t>
            </a:r>
          </a:p>
        </p:txBody>
      </p:sp>
      <p:graphicFrame>
        <p:nvGraphicFramePr>
          <p:cNvPr id="66" name="Tableau 65">
            <a:extLst>
              <a:ext uri="{FF2B5EF4-FFF2-40B4-BE49-F238E27FC236}">
                <a16:creationId xmlns:a16="http://schemas.microsoft.com/office/drawing/2014/main" id="{6F0C24FE-ADA4-03C8-F981-F1D65D1AF112}"/>
              </a:ext>
            </a:extLst>
          </p:cNvPr>
          <p:cNvGraphicFramePr>
            <a:graphicFrameLocks noGrp="1"/>
          </p:cNvGraphicFramePr>
          <p:nvPr/>
        </p:nvGraphicFramePr>
        <p:xfrm>
          <a:off x="192839" y="1978208"/>
          <a:ext cx="3474051" cy="370840"/>
        </p:xfrm>
        <a:graphic>
          <a:graphicData uri="http://schemas.openxmlformats.org/drawingml/2006/table">
            <a:tbl>
              <a:tblPr firstRow="1" bandRow="1">
                <a:tableStyleId>{16D9F66E-5EB9-4882-86FB-DCBF35E3C3E4}</a:tableStyleId>
              </a:tblPr>
              <a:tblGrid>
                <a:gridCol w="3474051">
                  <a:extLst>
                    <a:ext uri="{9D8B030D-6E8A-4147-A177-3AD203B41FA5}">
                      <a16:colId xmlns:a16="http://schemas.microsoft.com/office/drawing/2014/main" val="307642867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FR" sz="1800" b="0" i="0" u="none" strike="noStrike" noProof="0" dirty="0">
                          <a:solidFill>
                            <a:srgbClr val="000000"/>
                          </a:solidFill>
                          <a:latin typeface="Aptos"/>
                        </a:rPr>
                        <a:t>🏠 Tableau de bord</a:t>
                      </a:r>
                      <a:endParaRPr lang="fr-FR" sz="1800"/>
                    </a:p>
                  </a:txBody>
                  <a:tcPr>
                    <a:lnL w="38100">
                      <a:solidFill>
                        <a:schemeClr val="tx1"/>
                      </a:solidFill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83418677"/>
                  </a:ext>
                </a:extLst>
              </a:tr>
            </a:tbl>
          </a:graphicData>
        </a:graphic>
      </p:graphicFrame>
      <p:sp>
        <p:nvSpPr>
          <p:cNvPr id="71" name="Rectangle : coins arrondis 70">
            <a:extLst>
              <a:ext uri="{FF2B5EF4-FFF2-40B4-BE49-F238E27FC236}">
                <a16:creationId xmlns:a16="http://schemas.microsoft.com/office/drawing/2014/main" id="{47A80734-EE08-7E7F-2A05-F7D7CBFB9F9E}"/>
              </a:ext>
            </a:extLst>
          </p:cNvPr>
          <p:cNvSpPr/>
          <p:nvPr/>
        </p:nvSpPr>
        <p:spPr>
          <a:xfrm>
            <a:off x="3958168" y="701066"/>
            <a:ext cx="8151066" cy="6105717"/>
          </a:xfrm>
          <a:prstGeom prst="roundRect">
            <a:avLst/>
          </a:prstGeom>
          <a:ln w="12700">
            <a:solidFill>
              <a:srgbClr val="5943E2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7D3E1666-7C15-90FF-1811-560B2A78D5FB}"/>
              </a:ext>
            </a:extLst>
          </p:cNvPr>
          <p:cNvSpPr txBox="1"/>
          <p:nvPr/>
        </p:nvSpPr>
        <p:spPr>
          <a:xfrm>
            <a:off x="587652" y="4162986"/>
            <a:ext cx="2743200" cy="369332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>
                <a:ea typeface="+mn-lt"/>
                <a:cs typeface="+mn-lt"/>
              </a:rPr>
              <a:t>📋 Tous les documents</a:t>
            </a:r>
            <a:endParaRPr lang="fr-FR" dirty="0"/>
          </a:p>
        </p:txBody>
      </p:sp>
      <p:sp>
        <p:nvSpPr>
          <p:cNvPr id="19" name="ZoneTexte 37">
            <a:extLst>
              <a:ext uri="{FF2B5EF4-FFF2-40B4-BE49-F238E27FC236}">
                <a16:creationId xmlns:a16="http://schemas.microsoft.com/office/drawing/2014/main" id="{87330146-1485-2D4C-8D1C-46AC7EA60D24}"/>
              </a:ext>
            </a:extLst>
          </p:cNvPr>
          <p:cNvSpPr txBox="1"/>
          <p:nvPr/>
        </p:nvSpPr>
        <p:spPr>
          <a:xfrm>
            <a:off x="587651" y="4525248"/>
            <a:ext cx="2743200" cy="369332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/>
              <a:t>➕ Nouveau document</a:t>
            </a:r>
          </a:p>
        </p:txBody>
      </p:sp>
    </p:spTree>
    <p:extLst>
      <p:ext uri="{BB962C8B-B14F-4D97-AF65-F5344CB8AC3E}">
        <p14:creationId xmlns:p14="http://schemas.microsoft.com/office/powerpoint/2010/main" val="6445571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FB82F0-F610-363A-ECC1-86CC1583A6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5" name="Tableau 44">
            <a:extLst>
              <a:ext uri="{FF2B5EF4-FFF2-40B4-BE49-F238E27FC236}">
                <a16:creationId xmlns:a16="http://schemas.microsoft.com/office/drawing/2014/main" id="{4E98D231-A3C3-8B24-2250-D504A8F105E3}"/>
              </a:ext>
            </a:extLst>
          </p:cNvPr>
          <p:cNvGraphicFramePr>
            <a:graphicFrameLocks noGrp="1"/>
          </p:cNvGraphicFramePr>
          <p:nvPr/>
        </p:nvGraphicFramePr>
        <p:xfrm>
          <a:off x="-33130" y="0"/>
          <a:ext cx="12231144" cy="686867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2231144">
                  <a:extLst>
                    <a:ext uri="{9D8B030D-6E8A-4147-A177-3AD203B41FA5}">
                      <a16:colId xmlns:a16="http://schemas.microsoft.com/office/drawing/2014/main" val="134455847"/>
                    </a:ext>
                  </a:extLst>
                </a:gridCol>
              </a:tblGrid>
              <a:tr h="6868670"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84406124"/>
                  </a:ext>
                </a:extLst>
              </a:tr>
            </a:tbl>
          </a:graphicData>
        </a:graphic>
      </p:graphicFrame>
      <p:sp>
        <p:nvSpPr>
          <p:cNvPr id="48" name="Rectangle 19">
            <a:extLst>
              <a:ext uri="{FF2B5EF4-FFF2-40B4-BE49-F238E27FC236}">
                <a16:creationId xmlns:a16="http://schemas.microsoft.com/office/drawing/2014/main" id="{79BE0E21-CAD7-457E-7528-1541A50839C0}"/>
              </a:ext>
            </a:extLst>
          </p:cNvPr>
          <p:cNvSpPr/>
          <p:nvPr/>
        </p:nvSpPr>
        <p:spPr>
          <a:xfrm>
            <a:off x="70395" y="17345"/>
            <a:ext cx="3725673" cy="6769883"/>
          </a:xfrm>
          <a:prstGeom prst="roundRect">
            <a:avLst/>
          </a:prstGeom>
          <a:solidFill>
            <a:schemeClr val="bg1"/>
          </a:solidFill>
          <a:ln w="12700">
            <a:solidFill>
              <a:srgbClr val="644CFF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fr-FR" dirty="0"/>
          </a:p>
        </p:txBody>
      </p:sp>
      <p:sp>
        <p:nvSpPr>
          <p:cNvPr id="49" name="ZoneTexte 22">
            <a:extLst>
              <a:ext uri="{FF2B5EF4-FFF2-40B4-BE49-F238E27FC236}">
                <a16:creationId xmlns:a16="http://schemas.microsoft.com/office/drawing/2014/main" id="{EF160B6C-3943-2B34-404D-12E52AE4E1CD}"/>
              </a:ext>
            </a:extLst>
          </p:cNvPr>
          <p:cNvSpPr txBox="1"/>
          <p:nvPr/>
        </p:nvSpPr>
        <p:spPr>
          <a:xfrm>
            <a:off x="192531" y="2430395"/>
            <a:ext cx="2743200" cy="365760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>
                <a:ea typeface="+mn-lt"/>
                <a:cs typeface="+mn-lt"/>
              </a:rPr>
              <a:t>🏢 Biens</a:t>
            </a:r>
            <a:endParaRPr lang="fr-FR" dirty="0"/>
          </a:p>
        </p:txBody>
      </p:sp>
      <p:sp>
        <p:nvSpPr>
          <p:cNvPr id="50" name="ZoneTexte 23">
            <a:extLst>
              <a:ext uri="{FF2B5EF4-FFF2-40B4-BE49-F238E27FC236}">
                <a16:creationId xmlns:a16="http://schemas.microsoft.com/office/drawing/2014/main" id="{2AA8E917-81D2-9984-923C-B7BF17B2E2B1}"/>
              </a:ext>
            </a:extLst>
          </p:cNvPr>
          <p:cNvSpPr txBox="1"/>
          <p:nvPr/>
        </p:nvSpPr>
        <p:spPr>
          <a:xfrm>
            <a:off x="192531" y="2844274"/>
            <a:ext cx="2743200" cy="365760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>
                <a:ea typeface="+mn-lt"/>
                <a:cs typeface="+mn-lt"/>
              </a:rPr>
              <a:t>👥 Personnes</a:t>
            </a:r>
            <a:endParaRPr lang="fr-FR" dirty="0"/>
          </a:p>
        </p:txBody>
      </p:sp>
      <p:sp>
        <p:nvSpPr>
          <p:cNvPr id="51" name="ZoneTexte 24">
            <a:extLst>
              <a:ext uri="{FF2B5EF4-FFF2-40B4-BE49-F238E27FC236}">
                <a16:creationId xmlns:a16="http://schemas.microsoft.com/office/drawing/2014/main" id="{FC77AE2B-151F-2DF9-6A99-B8016AF97037}"/>
              </a:ext>
            </a:extLst>
          </p:cNvPr>
          <p:cNvSpPr txBox="1"/>
          <p:nvPr/>
        </p:nvSpPr>
        <p:spPr>
          <a:xfrm>
            <a:off x="192532" y="3260981"/>
            <a:ext cx="2743200" cy="365760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>
                <a:ea typeface="+mn-lt"/>
                <a:cs typeface="+mn-lt"/>
              </a:rPr>
              <a:t>📅 Événements</a:t>
            </a:r>
            <a:endParaRPr lang="fr-FR" dirty="0"/>
          </a:p>
        </p:txBody>
      </p:sp>
      <p:sp>
        <p:nvSpPr>
          <p:cNvPr id="52" name="ZoneTexte 25">
            <a:extLst>
              <a:ext uri="{FF2B5EF4-FFF2-40B4-BE49-F238E27FC236}">
                <a16:creationId xmlns:a16="http://schemas.microsoft.com/office/drawing/2014/main" id="{DC19F189-AB94-66FF-C0E5-2C545B69A193}"/>
              </a:ext>
            </a:extLst>
          </p:cNvPr>
          <p:cNvSpPr txBox="1"/>
          <p:nvPr/>
        </p:nvSpPr>
        <p:spPr>
          <a:xfrm>
            <a:off x="192532" y="3714658"/>
            <a:ext cx="2743200" cy="365760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>
                <a:ea typeface="+mn-lt"/>
                <a:cs typeface="+mn-lt"/>
              </a:rPr>
              <a:t>📂 Documents</a:t>
            </a:r>
            <a:endParaRPr lang="fr-FR" dirty="0"/>
          </a:p>
        </p:txBody>
      </p:sp>
      <p:sp>
        <p:nvSpPr>
          <p:cNvPr id="53" name="ZoneTexte 26">
            <a:extLst>
              <a:ext uri="{FF2B5EF4-FFF2-40B4-BE49-F238E27FC236}">
                <a16:creationId xmlns:a16="http://schemas.microsoft.com/office/drawing/2014/main" id="{DAD4E55E-2274-52D2-8671-3CC672CFFAC6}"/>
              </a:ext>
            </a:extLst>
          </p:cNvPr>
          <p:cNvSpPr txBox="1"/>
          <p:nvPr/>
        </p:nvSpPr>
        <p:spPr>
          <a:xfrm>
            <a:off x="194615" y="4149514"/>
            <a:ext cx="2743200" cy="369332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>
                <a:ea typeface="+mn-lt"/>
                <a:cs typeface="+mn-lt"/>
              </a:rPr>
              <a:t>👤 Utilisateurs</a:t>
            </a:r>
          </a:p>
        </p:txBody>
      </p:sp>
      <p:graphicFrame>
        <p:nvGraphicFramePr>
          <p:cNvPr id="66" name="Tableau 65">
            <a:extLst>
              <a:ext uri="{FF2B5EF4-FFF2-40B4-BE49-F238E27FC236}">
                <a16:creationId xmlns:a16="http://schemas.microsoft.com/office/drawing/2014/main" id="{4EB45B82-E8B1-B51B-9F10-234F58E13148}"/>
              </a:ext>
            </a:extLst>
          </p:cNvPr>
          <p:cNvGraphicFramePr>
            <a:graphicFrameLocks noGrp="1"/>
          </p:cNvGraphicFramePr>
          <p:nvPr/>
        </p:nvGraphicFramePr>
        <p:xfrm>
          <a:off x="192839" y="1978208"/>
          <a:ext cx="3474051" cy="370840"/>
        </p:xfrm>
        <a:graphic>
          <a:graphicData uri="http://schemas.openxmlformats.org/drawingml/2006/table">
            <a:tbl>
              <a:tblPr firstRow="1" bandRow="1">
                <a:tableStyleId>{16D9F66E-5EB9-4882-86FB-DCBF35E3C3E4}</a:tableStyleId>
              </a:tblPr>
              <a:tblGrid>
                <a:gridCol w="3474051">
                  <a:extLst>
                    <a:ext uri="{9D8B030D-6E8A-4147-A177-3AD203B41FA5}">
                      <a16:colId xmlns:a16="http://schemas.microsoft.com/office/drawing/2014/main" val="307642867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FR" sz="1800" b="0" i="0" u="none" strike="noStrike" noProof="0" dirty="0">
                          <a:solidFill>
                            <a:srgbClr val="000000"/>
                          </a:solidFill>
                          <a:latin typeface="Aptos"/>
                        </a:rPr>
                        <a:t>🏠 Tableau de bord</a:t>
                      </a:r>
                      <a:endParaRPr lang="fr-FR" sz="1800"/>
                    </a:p>
                  </a:txBody>
                  <a:tcPr>
                    <a:lnL w="38100">
                      <a:solidFill>
                        <a:schemeClr val="tx1"/>
                      </a:solidFill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83418677"/>
                  </a:ext>
                </a:extLst>
              </a:tr>
            </a:tbl>
          </a:graphicData>
        </a:graphic>
      </p:graphicFrame>
      <p:sp>
        <p:nvSpPr>
          <p:cNvPr id="71" name="Rectangle : coins arrondis 70">
            <a:extLst>
              <a:ext uri="{FF2B5EF4-FFF2-40B4-BE49-F238E27FC236}">
                <a16:creationId xmlns:a16="http://schemas.microsoft.com/office/drawing/2014/main" id="{1F831BDD-F273-D574-D017-3BA7D633ABFA}"/>
              </a:ext>
            </a:extLst>
          </p:cNvPr>
          <p:cNvSpPr/>
          <p:nvPr/>
        </p:nvSpPr>
        <p:spPr>
          <a:xfrm>
            <a:off x="3958168" y="701066"/>
            <a:ext cx="8151066" cy="6105717"/>
          </a:xfrm>
          <a:prstGeom prst="roundRect">
            <a:avLst/>
          </a:prstGeom>
          <a:ln w="12700">
            <a:solidFill>
              <a:srgbClr val="5943E2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AD654BE0-2B5C-7440-8E1D-C553E5D4A1F1}"/>
              </a:ext>
            </a:extLst>
          </p:cNvPr>
          <p:cNvSpPr txBox="1"/>
          <p:nvPr/>
        </p:nvSpPr>
        <p:spPr>
          <a:xfrm>
            <a:off x="587652" y="4582638"/>
            <a:ext cx="2743200" cy="369332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>
                <a:ea typeface="+mn-lt"/>
                <a:cs typeface="+mn-lt"/>
              </a:rPr>
              <a:t>🔐 Déconnexion</a:t>
            </a:r>
            <a:endParaRPr lang="fr-FR" dirty="0"/>
          </a:p>
        </p:txBody>
      </p:sp>
      <p:sp>
        <p:nvSpPr>
          <p:cNvPr id="20" name="ZoneTexte 37">
            <a:extLst>
              <a:ext uri="{FF2B5EF4-FFF2-40B4-BE49-F238E27FC236}">
                <a16:creationId xmlns:a16="http://schemas.microsoft.com/office/drawing/2014/main" id="{154ABB57-548E-E873-7045-2BD31581F602}"/>
              </a:ext>
            </a:extLst>
          </p:cNvPr>
          <p:cNvSpPr txBox="1"/>
          <p:nvPr/>
        </p:nvSpPr>
        <p:spPr>
          <a:xfrm>
            <a:off x="587651" y="4944900"/>
            <a:ext cx="3074504" cy="369332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>
                <a:ea typeface="+mn-lt"/>
                <a:cs typeface="+mn-lt"/>
              </a:rPr>
              <a:t>👥 Gestion des utilisateurs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688363488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250C2F8F82E7B45A594CEA233C6B382" ma:contentTypeVersion="11" ma:contentTypeDescription="Crée un document." ma:contentTypeScope="" ma:versionID="176f6fd3aedb8577db26cdfa5dbe34af">
  <xsd:schema xmlns:xsd="http://www.w3.org/2001/XMLSchema" xmlns:xs="http://www.w3.org/2001/XMLSchema" xmlns:p="http://schemas.microsoft.com/office/2006/metadata/properties" xmlns:ns2="78d0551c-5edb-40d6-bd08-e92537edcfcd" xmlns:ns3="d521bc36-f2c0-43cf-abd7-9aba3be646bf" targetNamespace="http://schemas.microsoft.com/office/2006/metadata/properties" ma:root="true" ma:fieldsID="6490633455485014e5c7daedb2405621" ns2:_="" ns3:_="">
    <xsd:import namespace="78d0551c-5edb-40d6-bd08-e92537edcfcd"/>
    <xsd:import namespace="d521bc36-f2c0-43cf-abd7-9aba3be646bf"/>
    <xsd:element name="properties">
      <xsd:complexType>
        <xsd:sequence>
          <xsd:element name="documentManagement">
            <xsd:complexType>
              <xsd:all>
                <xsd:element ref="ns2:ReferenceId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8d0551c-5edb-40d6-bd08-e92537edcfcd" elementFormDefault="qualified">
    <xsd:import namespace="http://schemas.microsoft.com/office/2006/documentManagement/types"/>
    <xsd:import namespace="http://schemas.microsoft.com/office/infopath/2007/PartnerControls"/>
    <xsd:element name="ReferenceId" ma:index="8" nillable="true" ma:displayName="ReferenceId" ma:indexed="true" ma:internalName="ReferenceId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4" nillable="true" ma:taxonomy="true" ma:internalName="lcf76f155ced4ddcb4097134ff3c332f" ma:taxonomyFieldName="MediaServiceImageTags" ma:displayName="Balises d’images" ma:readOnly="false" ma:fieldId="{5cf76f15-5ced-4ddc-b409-7134ff3c332f}" ma:taxonomyMulti="true" ma:sspId="2fc948de-ec24-45bc-8fd2-4b70830f3ec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521bc36-f2c0-43cf-abd7-9aba3be646bf" elementFormDefault="qualified">
    <xsd:import namespace="http://schemas.microsoft.com/office/2006/documentManagement/types"/>
    <xsd:import namespace="http://schemas.microsoft.com/office/infopath/2007/PartnerControls"/>
    <xsd:element name="TaxCatchAll" ma:index="15" nillable="true" ma:displayName="Taxonomy Catch All Column" ma:hidden="true" ma:list="{089654b5-9ecb-465c-8f77-c02a561d422f}" ma:internalName="TaxCatchAll" ma:showField="CatchAllData" ma:web="d521bc36-f2c0-43cf-abd7-9aba3be646b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78d0551c-5edb-40d6-bd08-e92537edcfcd">
      <Terms xmlns="http://schemas.microsoft.com/office/infopath/2007/PartnerControls"/>
    </lcf76f155ced4ddcb4097134ff3c332f>
    <ReferenceId xmlns="78d0551c-5edb-40d6-bd08-e92537edcfcd" xsi:nil="true"/>
    <TaxCatchAll xmlns="d521bc36-f2c0-43cf-abd7-9aba3be646bf" xsi:nil="true"/>
  </documentManagement>
</p:properties>
</file>

<file path=customXml/itemProps1.xml><?xml version="1.0" encoding="utf-8"?>
<ds:datastoreItem xmlns:ds="http://schemas.openxmlformats.org/officeDocument/2006/customXml" ds:itemID="{6A73EF39-4472-4EA1-8519-C4988F807EE4}"/>
</file>

<file path=customXml/itemProps2.xml><?xml version="1.0" encoding="utf-8"?>
<ds:datastoreItem xmlns:ds="http://schemas.openxmlformats.org/officeDocument/2006/customXml" ds:itemID="{A42BCD7A-9D18-4745-852B-ED32604617D2}"/>
</file>

<file path=customXml/itemProps3.xml><?xml version="1.0" encoding="utf-8"?>
<ds:datastoreItem xmlns:ds="http://schemas.openxmlformats.org/officeDocument/2006/customXml" ds:itemID="{2E549111-B4BD-4877-894F-ABD4879B9CB6}"/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Grand écran</PresentationFormat>
  <Paragraphs>0</Paragraphs>
  <Slides>8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8</vt:i4>
      </vt:variant>
    </vt:vector>
  </HeadingPairs>
  <TitlesOfParts>
    <vt:vector size="9" baseType="lpstr">
      <vt:lpstr>Thème Office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648</cp:revision>
  <dcterms:created xsi:type="dcterms:W3CDTF">2026-01-03T18:19:03Z</dcterms:created>
  <dcterms:modified xsi:type="dcterms:W3CDTF">2026-01-04T17:17:54Z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0x010100C250C2F8F82E7B45A594CEA233C6B382</vt:lpwstr>
  </property>
</Properties>
</file>